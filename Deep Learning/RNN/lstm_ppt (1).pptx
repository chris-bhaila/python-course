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62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75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96181"/>
            <a:ext cx="4914900" cy="235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LSTM:
MASTERING
LONG-TERM
DEPENDENCIES</a:t>
            </a:r>
            <a:endParaRPr lang="en-US" sz="4350" dirty="0"/>
          </a:p>
        </p:txBody>
      </p:sp>
      <p:sp>
        <p:nvSpPr>
          <p:cNvPr id="4" name="Text 1"/>
          <p:cNvSpPr/>
          <p:nvPr/>
        </p:nvSpPr>
        <p:spPr>
          <a:xfrm>
            <a:off x="571500" y="3750804"/>
            <a:ext cx="3571875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concise exploration of architecture, gates, and the power of selective memory.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THE CHALLENGE OF SEQUENTIAL DATA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684154"/>
            <a:ext cx="4286250" cy="32789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864519"/>
            <a:ext cx="428625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2150269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SEQUENCE LIMITS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2453878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Standard RNNs struggle with long-term dependencies as information fades over time.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3108201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VANISHING GRADIENTS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3411810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Gradients shrink exponentially during backpropagation, preventing effective learning.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4066133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THE NEED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4369743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mechanism to selectively remember important signals and forget noise.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57750" y="1684154"/>
            <a:ext cx="3714750" cy="3278981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B7A382D-72C9-3039-14FB-AE119CFC5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70" y="2495529"/>
            <a:ext cx="3627910" cy="1786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INTRODUCING LSTM ARCHITECTURE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405246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4623960" y="1339453"/>
            <a:ext cx="394854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4623960" y="1339453"/>
            <a:ext cx="3948540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909710" y="1625203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SPECIALIZED RNN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909710" y="1928813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Designed specifically to overcome long-term dependency challenges in sequential data.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909710" y="2583135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CORE INNOVATION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09710" y="2886745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Introduces a memory cell that maintains its state over time, controlled by three gates.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909710" y="3541068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MEMORY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09710" y="3844677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Learns to protect and update information through mathematical gating mechanisms.</a:t>
            </a:r>
            <a:endParaRPr lang="en-US" sz="11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C004EC-184A-7C21-84B4-50EE4635D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173" y="1932829"/>
            <a:ext cx="3787805" cy="27820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1: THE FORGET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428625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428625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DISCARDING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Decides which information from the previous cell state is no longer relevant and should be removed.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SIGMOID ACTIVATION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7147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Outputs a value between 0 (completely forget) and 1 (completely keep) for each number in the cell state.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7147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INPUT PROCESSING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66108"/>
            <a:ext cx="2308324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Considers the previous hidden state (h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54004" y="3878889"/>
            <a:ext cx="94578" cy="154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950" baseline="-400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t-1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277520" y="3878889"/>
            <a:ext cx="537006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) and the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7250" y="4109442"/>
            <a:ext cx="932948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current input (x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789365" y="4109442"/>
            <a:ext cx="27252" cy="154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21"/>
              </a:lnSpc>
              <a:buNone/>
            </a:pPr>
            <a:r>
              <a:rPr lang="en-US" sz="950" baseline="-4000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821616" y="4109442"/>
            <a:ext cx="1308050" cy="1876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) to make its decision.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57750" y="1339453"/>
            <a:ext cx="371475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55C68D0-8005-6EEC-8B82-0DA556E16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5687" y="1625203"/>
            <a:ext cx="1594925" cy="3064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2: THE INPUT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371475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3714750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SELECTION LAYER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sigmoid layer decides which values in the cell state will be updated (0 to 1).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CANDIDATE GENERATION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A tanh layer creates a vector of new candidate values to be added to the state.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14325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STORAGE DECISION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44677"/>
            <a:ext cx="314325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Combines these two layers to determine exactly what new information is stored.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86250" y="1339453"/>
            <a:ext cx="428625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E0D6BE-3B53-3D4B-30A2-C3EB1E0D8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400" y="1516959"/>
            <a:ext cx="2029974" cy="34490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GATE 3: THE OUTPUT GATE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3948540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3948540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7250" y="1625203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FILTERING STATE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57250" y="1928813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Decides what parts of the cell state are relevant for the current output.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7250" y="2583135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SIGMOID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7250" y="2886745"/>
            <a:ext cx="3377040" cy="584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Uses the current input and previous hidden state to determine how much information from the cell state is output.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57250" y="3541068"/>
            <a:ext cx="337704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TANH TRANSFORMATION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7250" y="3844677"/>
            <a:ext cx="3377040" cy="385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1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The cell state is transformed using tanh, then filtered by the sigmoid to produce the hidden state.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20040" y="1339453"/>
            <a:ext cx="4052460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E8FD42-762C-1D63-FFF3-C94333701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437" y="1792908"/>
            <a:ext cx="3246393" cy="2959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kern="0" spc="-2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WHY LSTM WINS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571500" y="1339453"/>
            <a:ext cx="2071688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71500" y="1339453"/>
            <a:ext cx="2071688" cy="57150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5813" y="1625203"/>
            <a:ext cx="16430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5813" y="2160984"/>
            <a:ext cx="1643063" cy="56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Successfully bridges long time gaps in data, retaining context where standard RNNs fail.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6063" y="1339453"/>
            <a:ext cx="3571875" cy="3804047"/>
          </a:xfrm>
          <a:prstGeom prst="rect">
            <a:avLst/>
          </a:prstGeom>
          <a:solidFill>
            <a:srgbClr val="1212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3261903" y="4380905"/>
            <a:ext cx="2620194" cy="107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C6FF00"/>
                </a:solidFill>
                <a:ea typeface="Inter Bold" pitchFamily="34" charset="-122"/>
                <a:cs typeface="Inter Bold" pitchFamily="34" charset="-120"/>
              </a:rPr>
              <a:t>ROBUST ARCHITECTURE FOR COMPLEX TASKS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6500813" y="1339453"/>
            <a:ext cx="2071688" cy="38040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500813" y="1339453"/>
            <a:ext cx="2071688" cy="57150"/>
          </a:xfrm>
          <a:prstGeom prst="rect">
            <a:avLst/>
          </a:prstGeom>
          <a:solidFill>
            <a:srgbClr val="C6F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715125" y="1625203"/>
            <a:ext cx="1643063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1212"/>
                </a:solidFill>
                <a:ea typeface="Inter Black" pitchFamily="34" charset="-122"/>
                <a:cs typeface="Inter Black" pitchFamily="34" charset="-120"/>
              </a:rPr>
              <a:t>SELECTIVE FOCUS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715125" y="1964531"/>
            <a:ext cx="1643063" cy="56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424242"/>
                </a:solidFill>
                <a:ea typeface="Inter Medium" pitchFamily="34" charset="-122"/>
                <a:cs typeface="Inter Medium" pitchFamily="34" charset="-120"/>
              </a:rPr>
              <a:t>Intelligently ignores noise and retains key signals through its unique gating mechanism.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1D7BDD-F5AF-3057-462B-58FEEC20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016" y="2248903"/>
            <a:ext cx="3475968" cy="1904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812C24285FA346AD3F70B3FFD32705" ma:contentTypeVersion="11" ma:contentTypeDescription="Create a new document." ma:contentTypeScope="" ma:versionID="3211cf3c0daa0537199ca9187a87d007">
  <xsd:schema xmlns:xsd="http://www.w3.org/2001/XMLSchema" xmlns:xs="http://www.w3.org/2001/XMLSchema" xmlns:p="http://schemas.microsoft.com/office/2006/metadata/properties" xmlns:ns2="5994b4ae-926e-4a44-b497-c986ec72bd6f" xmlns:ns3="55a2a44f-2c6c-4737-b2c4-b0c2d95e7e73" targetNamespace="http://schemas.microsoft.com/office/2006/metadata/properties" ma:root="true" ma:fieldsID="1649eb8dd7f6517b8c3736ed54285932" ns2:_="" ns3:_="">
    <xsd:import namespace="5994b4ae-926e-4a44-b497-c986ec72bd6f"/>
    <xsd:import namespace="55a2a44f-2c6c-4737-b2c4-b0c2d95e7e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4b4ae-926e-4a44-b497-c986ec72b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10c9dd7-4a39-4251-aab3-b81fdc61ee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a2a44f-2c6c-4737-b2c4-b0c2d95e7e7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aa83b47-4314-4dc9-9b60-4a441a816113}" ma:internalName="TaxCatchAll" ma:showField="CatchAllData" ma:web="55a2a44f-2c6c-4737-b2c4-b0c2d95e7e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a2a44f-2c6c-4737-b2c4-b0c2d95e7e73" xsi:nil="true"/>
    <lcf76f155ced4ddcb4097134ff3c332f xmlns="5994b4ae-926e-4a44-b497-c986ec72b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8A2710-1741-4505-9543-7ED0EBD47424}"/>
</file>

<file path=customXml/itemProps2.xml><?xml version="1.0" encoding="utf-8"?>
<ds:datastoreItem xmlns:ds="http://schemas.openxmlformats.org/officeDocument/2006/customXml" ds:itemID="{097A4D98-B16A-4EF8-824C-6E19819430C8}"/>
</file>

<file path=customXml/itemProps3.xml><?xml version="1.0" encoding="utf-8"?>
<ds:datastoreItem xmlns:ds="http://schemas.openxmlformats.org/officeDocument/2006/customXml" ds:itemID="{8EAB8B44-0216-4B83-8580-6E2993816C1D}"/>
</file>

<file path=docMetadata/LabelInfo.xml><?xml version="1.0" encoding="utf-8"?>
<clbl:labelList xmlns:clbl="http://schemas.microsoft.com/office/2020/mipLabelMetadata">
  <clbl:label id="{dd2e4901-b5ad-42ae-9e9d-f456e52148af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360</Words>
  <Application>Microsoft Office PowerPoint</Application>
  <PresentationFormat>On-screen Show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Inter Black</vt:lpstr>
      <vt:lpstr>Inter 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16</cp:revision>
  <dcterms:created xsi:type="dcterms:W3CDTF">2026-07-15T15:28:44Z</dcterms:created>
  <dcterms:modified xsi:type="dcterms:W3CDTF">2026-07-15T16:14:49Z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0x0101005E812C24285FA346AD3F70B3FFD32705</vt:lpwstr>
  </property>
  <property fmtid="{D5CDD505-2E9C-101B-9397-08002B2CF9AE}" pid="3" name="MediaServiceImageTags">
    <vt:lpwstr/>
  </property>
</Properties>
</file>