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Metadata/LabelInfo.xml" ContentType="application/vnd.ms-office.classificationlabel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9" d="100"/>
          <a:sy n="129" d="100"/>
        </p:scale>
        <p:origin x="12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8087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32536-B897-A3FD-B366-EEB237F3D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470FA-622F-BCEF-A5F4-CCCA244155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3A34CC-0027-548C-7EC7-F8893A864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39D21-43BE-B27D-9535-D5A8F486DC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7029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1D559-8921-B4FD-A912-0C4386876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6F3726-4875-97CB-C332-B769FFBE4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554E8F-E9A6-011F-7EE5-807C46305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72B3D-9E3D-31F6-322D-5C622794EA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3157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10F67-241F-9329-BADA-BC9505691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377A1D-C279-FAB2-8776-2A1494254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3364A4-3EF7-3DA5-1D53-22FCBAD91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2DC0E-0C57-A377-3CEA-67FB3CF8DA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6300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BE70F-838F-BE8F-705A-1775B4B2C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579568-92FA-626B-F6FB-D83FEE514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5CDF90-2339-EFAA-2ACC-6CE66CF57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8DB9A-FB6C-2B52-6B25-008666F03B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670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665666"/>
            <a:ext cx="4357688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Support Vector Machines (SVM)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428625" y="2900083"/>
            <a:ext cx="300037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Comprehensive Guide to Geometric Intuition and Mathematical Foundations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28625" y="3785908"/>
            <a:ext cx="4357688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Presented by: Miraj Bhandari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786313" y="0"/>
            <a:ext cx="4357688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70381"/>
            <a:ext cx="334506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 to SVM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628650" y="1712212"/>
            <a:ext cx="48006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Powerful Supervised Learning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8650" y="2155124"/>
            <a:ext cx="4800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SVM is a versatile algorithm for both </a:t>
            </a:r>
            <a:r>
              <a:rPr lang="en-US" sz="10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Classification (SVC)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0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Regression (SVR)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robust in high-dimensional spaces.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28650" y="2698049"/>
            <a:ext cx="48006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Beyond Logistic Regression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8650" y="3140962"/>
            <a:ext cx="4800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Rather than any separator, SVM finds the </a:t>
            </a:r>
            <a:r>
              <a:rPr lang="en-US" sz="10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Optimal Hyperplane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stronger confidence in predictions.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28650" y="3683887"/>
            <a:ext cx="48006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Optimal Decision Boundary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8650" y="4126799"/>
            <a:ext cx="4800600" cy="352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SVM finds a dividing line that separates the classes as clearly as possible by leaving the biggest gap between them.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36431" y="1683637"/>
            <a:ext cx="2586038" cy="1443038"/>
          </a:xfrm>
          <a:prstGeom prst="rect">
            <a:avLst/>
          </a:prstGeom>
          <a:solidFill>
            <a:srgbClr val="F1F5F9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275" y="1540762"/>
            <a:ext cx="514350" cy="5143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77570" y="2126549"/>
            <a:ext cx="150375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Machine Learning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8716" y="2576606"/>
            <a:ext cx="321469" cy="285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02561" y="2933793"/>
            <a:ext cx="165377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Pattern Recognition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469880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Geometric Components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640774"/>
            <a:ext cx="187880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Hyperplane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890806"/>
            <a:ext cx="187880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primary decision boundary separating classes (a line in 2D, a plane in 3D).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2578894" y="1640774"/>
            <a:ext cx="187880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Marginal Planes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578894" y="1890806"/>
            <a:ext cx="1878806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parallel boundaries on either side of the hyperplane that pass through the closest data points.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1500" y="2848068"/>
            <a:ext cx="187880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Support Vectors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1500" y="3098099"/>
            <a:ext cx="1878806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critical data points lying exactly on the marginal planes that define the hyperplane's position.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578894" y="2848068"/>
            <a:ext cx="187880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Maximum Margin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578894" y="3098099"/>
            <a:ext cx="1878806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distance between marginal planes; maximizing this distance ensures better generalization for new data.</a:t>
            </a:r>
            <a:endParaRPr lang="en-US" sz="9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68E6101-33EA-1477-482A-BC62383780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5367" y="874429"/>
            <a:ext cx="4345128" cy="31269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70381"/>
            <a:ext cx="46487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Hard Margin vs. Soft Margin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628650" y="1790793"/>
            <a:ext cx="38862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Hard Margin SVM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8650" y="2233706"/>
            <a:ext cx="38862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for </a:t>
            </a:r>
            <a:r>
              <a:rPr lang="en-US" sz="9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perfectly linearly separable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data. It has zero tolerance for misclassification, which can lead to overfitting in the presence of noise or outliers.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743450" y="1790793"/>
            <a:ext cx="38862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Soft Margin SVM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43450" y="2233706"/>
            <a:ext cx="38862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9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real-world standard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introduces slack variables to allow some misclassifications. This flexibility results in a more robust model that generalizes better.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131" y="3208046"/>
            <a:ext cx="7158038" cy="17287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7" y="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70381"/>
            <a:ext cx="492204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Mathematical Representation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628650" y="1640774"/>
            <a:ext cx="8001000" cy="80545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0100" y="1769362"/>
            <a:ext cx="76581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Hyperplane Equation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986028" y="2065827"/>
            <a:ext cx="180380" cy="3946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123660" y="2014035"/>
            <a:ext cx="150019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50" b="1" baseline="3000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3982641" y="2065827"/>
            <a:ext cx="1623417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 + b = 0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28650" y="2731982"/>
            <a:ext cx="277576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Weight Vector (w)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8650" y="3110601"/>
            <a:ext cx="277576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Defines orientation; perpendicular to the decision boundary.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490140" y="2731982"/>
            <a:ext cx="277579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Bias (b)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90140" y="3110601"/>
            <a:ext cx="277579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Specifies the offset from the origin for shifting the boundary.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551684" y="2617682"/>
            <a:ext cx="207796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Positive Class (+1)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51684" y="3046363"/>
            <a:ext cx="1035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655268" y="3016002"/>
            <a:ext cx="857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aseline="300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740993" y="3046363"/>
            <a:ext cx="93225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 + b &gt; 0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51684" y="3587502"/>
            <a:ext cx="207796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Negative Class (-1)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51684" y="4016183"/>
            <a:ext cx="1035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655268" y="3985822"/>
            <a:ext cx="857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aseline="300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740993" y="4016183"/>
            <a:ext cx="93225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 + b &lt; 0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488275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Optimization and Constraints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855087"/>
            <a:ext cx="38576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Optimization Goal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71500" y="2297999"/>
            <a:ext cx="3857625" cy="133052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71500" y="2440874"/>
            <a:ext cx="38576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Maximize Margin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71500" y="2710551"/>
            <a:ext cx="3857625" cy="301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Maximize 2 / ||w||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1500" y="3098099"/>
            <a:ext cx="385762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Equivalent to: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71500" y="3349916"/>
            <a:ext cx="3857625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Minimize ||w|| / 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71500" y="3742823"/>
            <a:ext cx="38576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find the </a:t>
            </a:r>
            <a:r>
              <a:rPr lang="en-US" sz="9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Maximum Margin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we optimize the weight vector </a:t>
            </a:r>
            <a:r>
              <a:rPr lang="en-US" sz="9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Minimizing the norm of </a:t>
            </a:r>
            <a:r>
              <a:rPr lang="en-US" sz="9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effectively pushes the marginal planes as far apart as possible.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714875" y="1855087"/>
            <a:ext cx="38576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Classification Constraints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14875" y="2297999"/>
            <a:ext cx="3857625" cy="122872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14875" y="2440874"/>
            <a:ext cx="38576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Combined Constraint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578543" y="2749228"/>
            <a:ext cx="137517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716060" y="2836013"/>
            <a:ext cx="114300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350" b="1" baseline="-40000" dirty="0">
                <a:solidFill>
                  <a:srgbClr val="1E29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830360" y="2749228"/>
            <a:ext cx="275034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(w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105395" y="2710551"/>
            <a:ext cx="114300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350" b="1" baseline="30000" dirty="0">
                <a:solidFill>
                  <a:srgbClr val="1E29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219695" y="2749228"/>
            <a:ext cx="137517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57212" y="2836013"/>
            <a:ext cx="114300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350" b="1" baseline="-40000" dirty="0">
                <a:solidFill>
                  <a:srgbClr val="1E29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471512" y="2749228"/>
            <a:ext cx="123732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b) ≥ 1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714875" y="3666027"/>
            <a:ext cx="27432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constraint ensures that every data point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458075" y="3666027"/>
            <a:ext cx="750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x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533084" y="3714945"/>
            <a:ext cx="285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b="1" baseline="-40000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7561659" y="3666027"/>
            <a:ext cx="70901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correctly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714875" y="3889967"/>
            <a:ext cx="11108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classified and lies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825728" y="3889967"/>
            <a:ext cx="130909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outside or exactly on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134820" y="3889967"/>
            <a:ext cx="12573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marginal planes.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714875" y="4224272"/>
            <a:ext cx="23770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support vectors, the equality holds: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714875" y="4449635"/>
            <a:ext cx="767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791670" y="4498553"/>
            <a:ext cx="285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b="1" baseline="-40000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4820245" y="4449635"/>
            <a:ext cx="1571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(w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977408" y="4426418"/>
            <a:ext cx="714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b="1" baseline="30000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5048845" y="4449635"/>
            <a:ext cx="750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x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123855" y="4498553"/>
            <a:ext cx="285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b="1" baseline="-40000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5152430" y="4449635"/>
            <a:ext cx="4786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 b) = 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4287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98943"/>
            <a:ext cx="60579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Handling Errors with Slack Variables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569337"/>
            <a:ext cx="392906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Slack Variable (ζ)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71500" y="2012249"/>
            <a:ext cx="3929063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Introduced in Soft Margin SVM to measure the distance of misclassified points from their correct marginal plane. It allows the model to handle non-linearly separable data by tolerating specific errors.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643438" y="1640774"/>
            <a:ext cx="3929063" cy="877956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857750" y="1726499"/>
            <a:ext cx="350043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Cost Function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6521" y="1864016"/>
            <a:ext cx="3162895" cy="301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Minimize: ||w||/2 + C Σ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82060" y="2165840"/>
            <a:ext cx="137517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ζ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619577" y="2252625"/>
            <a:ext cx="114300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350" b="1" baseline="-4000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71500" y="3049432"/>
            <a:ext cx="80010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Regularization Parameter (C)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71500" y="3492345"/>
            <a:ext cx="80010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hyperparameter that controls the trade-off between maximizing the margin and minimizing classification errors.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78669" y="4121386"/>
            <a:ext cx="3721894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 C (Harder Margin)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8669" y="4519706"/>
            <a:ext cx="372189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Prioritizes minimizing misclassifications
• Results in a narrower margin
• Risk of </a:t>
            </a:r>
            <a:r>
              <a:rPr lang="en-US" sz="9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overfitting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noise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850606" y="4121386"/>
            <a:ext cx="3721894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 C (Softer Margin)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50606" y="4519706"/>
            <a:ext cx="372189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Prioritizes a larger margin width
• Allows more misclassifications
• Better </a:t>
            </a:r>
            <a:r>
              <a:rPr lang="en-US" sz="9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generalization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new data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465593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SVM Process Summary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1357313" y="1912237"/>
            <a:ext cx="428625" cy="428625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357313" y="1912237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0175" y="2426587"/>
            <a:ext cx="342900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840924"/>
            <a:ext cx="200025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Identify Support Vectors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3498149"/>
            <a:ext cx="2000250" cy="578644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Locate the nearest data points from each class that define the boundary.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3357563" y="1912237"/>
            <a:ext cx="428625" cy="428625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3357563" y="1912237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0425" y="2426587"/>
            <a:ext cx="342900" cy="342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790527" y="2840924"/>
            <a:ext cx="156269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Construct Margins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2571750" y="3369562"/>
            <a:ext cx="2000250" cy="578644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Draw parallel marginal planes passing through the identified support vectors.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357813" y="1912237"/>
            <a:ext cx="428625" cy="428625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5357813" y="1912237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4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7813" y="2426587"/>
            <a:ext cx="428625" cy="342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686300" y="2840924"/>
            <a:ext cx="1771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Optimize Hyperplane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572000" y="3369562"/>
            <a:ext cx="2000250" cy="578644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 the central line that maximizes the distance between margins.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7358063" y="1912237"/>
            <a:ext cx="428625" cy="428625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7358063" y="1912237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4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0925" y="2426587"/>
            <a:ext cx="342900" cy="3429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32997" y="2840924"/>
            <a:ext cx="1478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 &amp; Classify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6572250" y="3369562"/>
            <a:ext cx="2000250" cy="578644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resulting model to classify new, unseen data points with high confidence.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70381"/>
            <a:ext cx="63329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Advanced Concepts: The Kernel Trick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628650" y="1583624"/>
            <a:ext cx="3443288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Non-Linear Separability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28650" y="1865802"/>
            <a:ext cx="3443288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real-world datasets cannot be separated by a straight line in their original 2D or 3D space.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28650" y="2408727"/>
            <a:ext cx="3443288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Higher Dimensions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8650" y="2690906"/>
            <a:ext cx="3443288" cy="610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Kernel Trick maps data into a higher-dimensional space where a linear hyperplane can effectively separate the classes.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8650" y="3437427"/>
            <a:ext cx="3443288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Computational Efficiency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8650" y="3719606"/>
            <a:ext cx="3443288" cy="610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enables complex classification without explicitly computing coordinates in very high dimensions, saving resources.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113" y="1803295"/>
            <a:ext cx="4300538" cy="24431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8F7364-4FAB-6E2B-F4B6-8303505F0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33" y="482600"/>
            <a:ext cx="6934932" cy="4178299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95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1768"/>
            <a:ext cx="1407490" cy="1324506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052897" y="4525250"/>
            <a:ext cx="484026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4290831"/>
            <a:ext cx="1696473" cy="852668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E80DC3-982E-AD33-099B-88E98EFFA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649732"/>
            <a:ext cx="8178799" cy="384403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9798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83D7F-BB19-378E-AAC6-56DE9CED8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DAA75D6-1B39-72EF-B2D2-7A7AD58DB0B2}"/>
              </a:ext>
            </a:extLst>
          </p:cNvPr>
          <p:cNvSpPr/>
          <p:nvPr/>
        </p:nvSpPr>
        <p:spPr>
          <a:xfrm>
            <a:off x="524153" y="669846"/>
            <a:ext cx="6057900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dirty="0"/>
              <a:t>Linear Kernal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C5A217D-C307-FE4E-0F84-516D0B5656BA}"/>
              </a:ext>
            </a:extLst>
          </p:cNvPr>
          <p:cNvSpPr/>
          <p:nvPr/>
        </p:nvSpPr>
        <p:spPr>
          <a:xfrm>
            <a:off x="545602" y="1317328"/>
            <a:ext cx="3929063" cy="546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kernel is used when the data is linearly separable. It means that data can be separated using a single line. It is one of the most common kernels to be used.</a:t>
            </a:r>
            <a:endParaRPr lang="en-US" sz="95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702B210-B372-8DA9-FBB4-D88D17300963}"/>
              </a:ext>
            </a:extLst>
          </p:cNvPr>
          <p:cNvSpPr/>
          <p:nvPr/>
        </p:nvSpPr>
        <p:spPr>
          <a:xfrm>
            <a:off x="4643438" y="1640773"/>
            <a:ext cx="4030045" cy="1084671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pPr algn="ctr"/>
            <a:endParaRPr lang="en-US" sz="1200" dirty="0"/>
          </a:p>
          <a:p>
            <a:pPr algn="ctr"/>
            <a:endParaRPr lang="en-US" sz="1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E578386-CCD6-3276-6E64-0E5318160700}"/>
              </a:ext>
            </a:extLst>
          </p:cNvPr>
          <p:cNvSpPr/>
          <p:nvPr/>
        </p:nvSpPr>
        <p:spPr>
          <a:xfrm>
            <a:off x="4857750" y="1726499"/>
            <a:ext cx="3500438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Formula</a:t>
            </a:r>
            <a:endParaRPr lang="en-US" sz="850" b="1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7D0F63C-0823-E548-DAB3-998191EC1BD7}"/>
              </a:ext>
            </a:extLst>
          </p:cNvPr>
          <p:cNvSpPr/>
          <p:nvPr/>
        </p:nvSpPr>
        <p:spPr>
          <a:xfrm>
            <a:off x="6676694" y="2252625"/>
            <a:ext cx="65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13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CDA0172-DE65-C390-C8BA-DA30E04D7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93" y="2001981"/>
            <a:ext cx="3600762" cy="274343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E29D24E-E8FE-CE6B-EE47-FE1134F9C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1102" y="1995427"/>
            <a:ext cx="1893734" cy="51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075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90198-6108-65BB-2CD6-62C64C9A0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4F0C4FC-298D-A18C-DE2A-5AA619FF69B9}"/>
              </a:ext>
            </a:extLst>
          </p:cNvPr>
          <p:cNvSpPr/>
          <p:nvPr/>
        </p:nvSpPr>
        <p:spPr>
          <a:xfrm>
            <a:off x="524153" y="669846"/>
            <a:ext cx="605790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b="1" dirty="0"/>
              <a:t>Polynomial Kernel</a:t>
            </a:r>
            <a:endParaRPr lang="en-US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6304A78-C982-3DAE-FE68-02B36259A890}"/>
              </a:ext>
            </a:extLst>
          </p:cNvPr>
          <p:cNvSpPr/>
          <p:nvPr/>
        </p:nvSpPr>
        <p:spPr>
          <a:xfrm>
            <a:off x="4749970" y="1918038"/>
            <a:ext cx="4030045" cy="1084671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pPr algn="ctr"/>
            <a:endParaRPr lang="en-US" sz="1200" dirty="0"/>
          </a:p>
          <a:p>
            <a:pPr algn="ctr"/>
            <a:endParaRPr lang="en-US" sz="1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0AA4961-A587-2144-35B3-23B0166C5D7C}"/>
              </a:ext>
            </a:extLst>
          </p:cNvPr>
          <p:cNvSpPr/>
          <p:nvPr/>
        </p:nvSpPr>
        <p:spPr>
          <a:xfrm>
            <a:off x="4926475" y="1997104"/>
            <a:ext cx="3500438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Formula</a:t>
            </a:r>
            <a:endParaRPr lang="en-US" sz="850" b="1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7FCBF30-CC06-F4F9-2561-26919221E094}"/>
              </a:ext>
            </a:extLst>
          </p:cNvPr>
          <p:cNvSpPr/>
          <p:nvPr/>
        </p:nvSpPr>
        <p:spPr>
          <a:xfrm>
            <a:off x="6676694" y="2252625"/>
            <a:ext cx="65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13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FD031F-7721-F410-1C63-AEE124151C71}"/>
                  </a:ext>
                </a:extLst>
              </p:cNvPr>
              <p:cNvSpPr txBox="1"/>
              <p:nvPr/>
            </p:nvSpPr>
            <p:spPr>
              <a:xfrm>
                <a:off x="398015" y="1052250"/>
                <a:ext cx="457200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200" dirty="0"/>
                  <a:t>Polynomial Kernel is an SVM kernel that transforms the original features into polynomial features (such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sz="12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sz="12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sz="12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ar-AE" sz="1200" dirty="0"/>
                  <a:t>, </a:t>
                </a:r>
                <a:r>
                  <a:rPr lang="en-US" sz="12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2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2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sz="1200" dirty="0"/>
                  <a:t>) </a:t>
                </a:r>
                <a:r>
                  <a:rPr lang="en-US" sz="1200" dirty="0"/>
                  <a:t>o that data that cannot be separated by a straight line can be separated using a curved decision boundary.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FD031F-7721-F410-1C63-AEE124151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015" y="1052250"/>
                <a:ext cx="4572000" cy="830997"/>
              </a:xfrm>
              <a:prstGeom prst="rect">
                <a:avLst/>
              </a:prstGeom>
              <a:blipFill>
                <a:blip r:embed="rId3"/>
                <a:stretch>
                  <a:fillRect t="-735" r="-133" b="-51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312848C8-8A98-9992-05AE-54E752D44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8982" y="2252625"/>
            <a:ext cx="2312223" cy="5675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BE29C2-2810-BE93-AFDC-21EAB0E176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154" y="2252625"/>
            <a:ext cx="4067877" cy="142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858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12289-628C-74C8-0D65-0575E5AD5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8F98F79-51F4-822E-8FD5-FE0F68C98165}"/>
              </a:ext>
            </a:extLst>
          </p:cNvPr>
          <p:cNvSpPr/>
          <p:nvPr/>
        </p:nvSpPr>
        <p:spPr>
          <a:xfrm>
            <a:off x="500479" y="502099"/>
            <a:ext cx="6057900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b="1" dirty="0"/>
              <a:t>Radial Basis Function Kernel</a:t>
            </a:r>
            <a:endParaRPr lang="en-US" dirty="0"/>
          </a:p>
          <a:p>
            <a:endParaRPr lang="en-US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C6EA6EC-4341-66A0-707A-96154611C54F}"/>
              </a:ext>
            </a:extLst>
          </p:cNvPr>
          <p:cNvSpPr/>
          <p:nvPr/>
        </p:nvSpPr>
        <p:spPr>
          <a:xfrm>
            <a:off x="4749970" y="1918038"/>
            <a:ext cx="4030045" cy="1084671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pPr algn="ctr"/>
            <a:endParaRPr lang="en-US" sz="1200" dirty="0"/>
          </a:p>
          <a:p>
            <a:pPr algn="ctr"/>
            <a:endParaRPr lang="en-US" sz="1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B4A6FB0-EE1F-B9B0-118A-7372B39FAE0E}"/>
              </a:ext>
            </a:extLst>
          </p:cNvPr>
          <p:cNvSpPr/>
          <p:nvPr/>
        </p:nvSpPr>
        <p:spPr>
          <a:xfrm>
            <a:off x="4926475" y="1997104"/>
            <a:ext cx="3500438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Formula</a:t>
            </a:r>
            <a:endParaRPr lang="en-US" sz="850" b="1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17E2F3A-C493-6FD1-BCA9-7256FAECF3AA}"/>
              </a:ext>
            </a:extLst>
          </p:cNvPr>
          <p:cNvSpPr/>
          <p:nvPr/>
        </p:nvSpPr>
        <p:spPr>
          <a:xfrm>
            <a:off x="6676694" y="2252625"/>
            <a:ext cx="65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13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B6ED88-3F6F-5B7A-D7DB-BF6C0637E01C}"/>
              </a:ext>
            </a:extLst>
          </p:cNvPr>
          <p:cNvSpPr txBox="1"/>
          <p:nvPr/>
        </p:nvSpPr>
        <p:spPr>
          <a:xfrm>
            <a:off x="398015" y="105225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/>
              <a:t>Radial basis function kernel is a general purpose kernel. It is used when we have no prior knowledge about the data.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922B2E-8162-C2A3-1021-46D7BDFC5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617" y="2252625"/>
            <a:ext cx="3014222" cy="5985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392DB6-1AEA-25B0-A48C-C7E82E2B7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122" y="1677540"/>
            <a:ext cx="3724833" cy="308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81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4244A-E0CB-8455-B950-B917527B5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21C5D87-17C1-1F47-FD20-C4F8E7AE0FEE}"/>
              </a:ext>
            </a:extLst>
          </p:cNvPr>
          <p:cNvSpPr/>
          <p:nvPr/>
        </p:nvSpPr>
        <p:spPr>
          <a:xfrm>
            <a:off x="500479" y="502099"/>
            <a:ext cx="6057900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b="1" dirty="0"/>
              <a:t>Sigmoid kernel</a:t>
            </a:r>
            <a:endParaRPr lang="en-US" dirty="0"/>
          </a:p>
          <a:p>
            <a:endParaRPr lang="en-US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9811F31-BEB4-C873-F7B1-C20446C2ED02}"/>
              </a:ext>
            </a:extLst>
          </p:cNvPr>
          <p:cNvSpPr/>
          <p:nvPr/>
        </p:nvSpPr>
        <p:spPr>
          <a:xfrm>
            <a:off x="4749970" y="1918038"/>
            <a:ext cx="4030045" cy="1084671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pPr algn="ctr"/>
            <a:endParaRPr lang="en-US" sz="1200" dirty="0"/>
          </a:p>
          <a:p>
            <a:pPr algn="ctr"/>
            <a:endParaRPr lang="en-US" sz="1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00A2EC5-EF01-EBCD-282F-01CA820D8565}"/>
              </a:ext>
            </a:extLst>
          </p:cNvPr>
          <p:cNvSpPr/>
          <p:nvPr/>
        </p:nvSpPr>
        <p:spPr>
          <a:xfrm>
            <a:off x="4926475" y="1997104"/>
            <a:ext cx="3500438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Formula</a:t>
            </a:r>
            <a:endParaRPr lang="en-US" sz="850" b="1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0AA7798-A199-FB1A-2C08-E9DB20627506}"/>
              </a:ext>
            </a:extLst>
          </p:cNvPr>
          <p:cNvSpPr/>
          <p:nvPr/>
        </p:nvSpPr>
        <p:spPr>
          <a:xfrm>
            <a:off x="6676694" y="2252625"/>
            <a:ext cx="65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13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3A4934-5E23-5B45-B7AB-31C8B95DE023}"/>
              </a:ext>
            </a:extLst>
          </p:cNvPr>
          <p:cNvSpPr txBox="1"/>
          <p:nvPr/>
        </p:nvSpPr>
        <p:spPr>
          <a:xfrm>
            <a:off x="398015" y="105225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/>
              <a:t>The Sigmoid kernel applies a sigmoid (S-shaped) transformation to the dot product of two data points, enabling SVM to capture non-linear patterns in the data.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48AD20-83F3-F84E-12B5-BAB5802B2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87" y="1887160"/>
            <a:ext cx="2972385" cy="24371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B903F9E-FE3D-607E-EAD7-8B77BCEC7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6040" y="2283946"/>
            <a:ext cx="3215832" cy="57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755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812C24285FA346AD3F70B3FFD32705" ma:contentTypeVersion="10" ma:contentTypeDescription="Create a new document." ma:contentTypeScope="" ma:versionID="81e8a5773a57807bf4b696b7eae25795">
  <xsd:schema xmlns:xsd="http://www.w3.org/2001/XMLSchema" xmlns:xs="http://www.w3.org/2001/XMLSchema" xmlns:p="http://schemas.microsoft.com/office/2006/metadata/properties" xmlns:ns2="5994b4ae-926e-4a44-b497-c986ec72bd6f" xmlns:ns3="55a2a44f-2c6c-4737-b2c4-b0c2d95e7e73" targetNamespace="http://schemas.microsoft.com/office/2006/metadata/properties" ma:root="true" ma:fieldsID="ab41e21804e6f03b1d9cef1dc77e244a" ns2:_="" ns3:_="">
    <xsd:import namespace="5994b4ae-926e-4a44-b497-c986ec72bd6f"/>
    <xsd:import namespace="55a2a44f-2c6c-4737-b2c4-b0c2d95e7e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94b4ae-926e-4a44-b497-c986ec72bd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b10c9dd7-4a39-4251-aab3-b81fdc61ee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a2a44f-2c6c-4737-b2c4-b0c2d95e7e7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3b26efb-fcd4-4e13-8302-112b5dfb7251}" ma:internalName="TaxCatchAll" ma:showField="CatchAllData" ma:web="55a2a44f-2c6c-4737-b2c4-b0c2d95e7e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a2a44f-2c6c-4737-b2c4-b0c2d95e7e73" xsi:nil="true"/>
    <lcf76f155ced4ddcb4097134ff3c332f xmlns="5994b4ae-926e-4a44-b497-c986ec72bd6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D318082-E36E-45BB-BFB2-3759C346B97C}"/>
</file>

<file path=customXml/itemProps2.xml><?xml version="1.0" encoding="utf-8"?>
<ds:datastoreItem xmlns:ds="http://schemas.openxmlformats.org/officeDocument/2006/customXml" ds:itemID="{D211D96F-5561-449E-BB24-258429BEB6D6}"/>
</file>

<file path=customXml/itemProps3.xml><?xml version="1.0" encoding="utf-8"?>
<ds:datastoreItem xmlns:ds="http://schemas.openxmlformats.org/officeDocument/2006/customXml" ds:itemID="{38565F89-2E3F-4D17-A852-25A7B0705F2B}"/>
</file>

<file path=docMetadata/LabelInfo.xml><?xml version="1.0" encoding="utf-8"?>
<clbl:labelList xmlns:clbl="http://schemas.microsoft.com/office/2020/mipLabelMetadata">
  <clbl:label id="{dd2e4901-b5ad-42ae-9e9d-f456e52148af}" enabled="1" method="Privileged" siteId="{3b07dc1f-22e7-4be1-ac66-a88bf355022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828</Words>
  <Application>Microsoft Office PowerPoint</Application>
  <PresentationFormat>On-screen Show (16:9)</PresentationFormat>
  <Paragraphs>132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Cambria Math</vt:lpstr>
      <vt:lpstr>Inter</vt:lpstr>
      <vt:lpstr>Inter Bold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Bhandari, Miraj</cp:lastModifiedBy>
  <cp:revision>27</cp:revision>
  <dcterms:created xsi:type="dcterms:W3CDTF">2026-06-10T10:47:21Z</dcterms:created>
  <dcterms:modified xsi:type="dcterms:W3CDTF">2026-06-10T11:49:46Z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0x0101005E812C24285FA346AD3F70B3FFD32705</vt:lpwstr>
  </property>
</Properties>
</file>