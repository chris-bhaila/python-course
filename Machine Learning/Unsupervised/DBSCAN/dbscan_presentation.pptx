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Metadata/LabelInfo.xml" ContentType="application/vnd.ms-office.classificationlabel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50" y="5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9125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https://www.youtube.com/shorts/_iUl81_2BmQ</a:t>
            </a:r>
          </a:p>
        </p:txBody>
      </p:sp>
    </p:spTree>
    <p:extLst>
      <p:ext uri="{BB962C8B-B14F-4D97-AF65-F5344CB8AC3E}">
        <p14:creationId xmlns:p14="http://schemas.microsoft.com/office/powerpoint/2010/main" val="3285597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066665"/>
            <a:ext cx="8572500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150" b="1" kern="0" spc="13" dirty="0">
                <a:solidFill>
                  <a:srgbClr val="2D5A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DBSCAN</a:t>
            </a:r>
            <a:endParaRPr lang="en-US" sz="4150" dirty="0"/>
          </a:p>
        </p:txBody>
      </p:sp>
      <p:sp>
        <p:nvSpPr>
          <p:cNvPr id="4" name="Text 1"/>
          <p:cNvSpPr/>
          <p:nvPr/>
        </p:nvSpPr>
        <p:spPr>
          <a:xfrm>
            <a:off x="571500" y="2923915"/>
            <a:ext cx="8572500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D5A27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Simplifying Complex Data Clustering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5000625" y="2564606"/>
            <a:ext cx="3571875" cy="1857375"/>
          </a:xfrm>
          <a:prstGeom prst="rect">
            <a:avLst/>
          </a:prstGeom>
          <a:solidFill>
            <a:srgbClr val="FF9F1C"/>
          </a:solidFill>
          <a:ln w="45720">
            <a:solidFill>
              <a:srgbClr val="2D5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172075" y="3213264"/>
            <a:ext cx="3228975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Density-Based Spatial Clustering of Applications with Noise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5732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48782"/>
            <a:ext cx="8572500" cy="469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750" b="1" kern="0" spc="4" dirty="0">
                <a:solidFill>
                  <a:srgbClr val="2D5A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THE CORE CONCEPT: DENSITY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571500" y="1647109"/>
            <a:ext cx="3571875" cy="3926105"/>
          </a:xfrm>
          <a:prstGeom prst="rect">
            <a:avLst/>
          </a:prstGeom>
          <a:solidFill>
            <a:srgbClr val="9B5DE5"/>
          </a:solidFill>
          <a:ln w="45720">
            <a:solidFill>
              <a:srgbClr val="2D5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28688" y="2175746"/>
            <a:ext cx="285750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DBSCAN identifies clusters based on how </a:t>
            </a:r>
            <a:r>
              <a:rPr lang="en-US" sz="1200" b="1" dirty="0">
                <a:solidFill>
                  <a:srgbClr val="FF9F1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densely</a:t>
            </a:r>
            <a:r>
              <a:rPr lang="en-US" sz="125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 data points are packed.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928688" y="3170123"/>
            <a:ext cx="285750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FF9F1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Epsilon (ε):</a:t>
            </a:r>
            <a:r>
              <a:rPr lang="en-US" sz="125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 The maximum radius around a point to look for neighbors.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28688" y="4164499"/>
            <a:ext cx="285750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FF9F1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MinPts:</a:t>
            </a:r>
            <a:r>
              <a:rPr lang="en-US" sz="125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 The minimum number of points required within Epsilon to form a cluster.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43438" y="1647109"/>
            <a:ext cx="3929063" cy="2857500"/>
          </a:xfrm>
          <a:prstGeom prst="rect">
            <a:avLst/>
          </a:prstGeom>
          <a:solidFill>
            <a:srgbClr val="FFFFFF"/>
          </a:solidFill>
          <a:ln w="45720">
            <a:solidFill>
              <a:srgbClr val="2D5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438" y="1789984"/>
            <a:ext cx="3843338" cy="25003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09716" y="105050"/>
            <a:ext cx="8572500" cy="469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750" b="1" kern="0" spc="4" dirty="0">
                <a:solidFill>
                  <a:srgbClr val="2D5A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THREE TYPES OF DATA POINTS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79131" y="2191184"/>
            <a:ext cx="2500313" cy="2857500"/>
          </a:xfrm>
          <a:prstGeom prst="rect">
            <a:avLst/>
          </a:prstGeom>
          <a:solidFill>
            <a:srgbClr val="FF9F1C"/>
          </a:solidFill>
          <a:ln w="45720">
            <a:solidFill>
              <a:srgbClr val="2D5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854" y="2653647"/>
            <a:ext cx="428625" cy="4286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0696" y="3134795"/>
            <a:ext cx="140196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Core Points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205323" y="3512141"/>
            <a:ext cx="2071688" cy="56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33333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A core point has at least </a:t>
            </a:r>
            <a:r>
              <a:rPr lang="en-US" sz="1050" dirty="0" err="1">
                <a:solidFill>
                  <a:srgbClr val="333333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MinPts</a:t>
            </a:r>
            <a:r>
              <a:rPr lang="en-US" sz="1050" dirty="0">
                <a:solidFill>
                  <a:srgbClr val="333333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 points (including itself) within a distance of eps (ε).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2660870" y="2170009"/>
            <a:ext cx="2500313" cy="2857500"/>
          </a:xfrm>
          <a:prstGeom prst="rect">
            <a:avLst/>
          </a:prstGeom>
          <a:solidFill>
            <a:srgbClr val="9B5DE5"/>
          </a:solidFill>
          <a:ln w="45720">
            <a:solidFill>
              <a:srgbClr val="2D5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9866" y="2392625"/>
            <a:ext cx="375047" cy="4286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137308" y="2995492"/>
            <a:ext cx="1675209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Border Points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2875182" y="3551454"/>
            <a:ext cx="2071688" cy="1150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A border point:</a:t>
            </a:r>
          </a:p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Has fewer than </a:t>
            </a:r>
            <a:r>
              <a:rPr lang="en-US" sz="1050" dirty="0" err="1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MinPts</a:t>
            </a:r>
            <a:r>
              <a:rPr lang="en-US" sz="105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 neighbors within ε.</a:t>
            </a:r>
          </a:p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But lies within ε of a core point.</a:t>
            </a:r>
          </a:p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So, it belongs to a cluster but cannot expand the cluster.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5242609" y="2592727"/>
            <a:ext cx="2223666" cy="2445723"/>
          </a:xfrm>
          <a:prstGeom prst="roundRect">
            <a:avLst/>
          </a:prstGeom>
          <a:solidFill>
            <a:srgbClr val="FFFFFF"/>
          </a:solidFill>
          <a:ln w="45720">
            <a:solidFill>
              <a:srgbClr val="2D5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0708" y="2653647"/>
            <a:ext cx="428625" cy="4286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637621" y="3143192"/>
            <a:ext cx="1519833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Noise Points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5449594" y="3559848"/>
            <a:ext cx="1857655" cy="777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Points that are neither Core nor Border. These are identified as outliers or background noise.</a:t>
            </a:r>
            <a:endParaRPr lang="en-US" sz="105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AFF7A6-BFCD-3108-9033-BB7FF4B23B21}"/>
              </a:ext>
            </a:extLst>
          </p:cNvPr>
          <p:cNvSpPr txBox="1"/>
          <p:nvPr/>
        </p:nvSpPr>
        <p:spPr>
          <a:xfrm>
            <a:off x="254863" y="4141865"/>
            <a:ext cx="214885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dirty="0"/>
              <a:t>If </a:t>
            </a:r>
            <a:r>
              <a:rPr lang="en-US" sz="1100" b="1" dirty="0" err="1">
                <a:latin typeface="Courier New" panose="02070309020205020404" pitchFamily="49" charset="0"/>
              </a:rPr>
              <a:t>MinPts</a:t>
            </a:r>
            <a:r>
              <a:rPr lang="en-US" sz="1100" b="1" dirty="0">
                <a:latin typeface="Courier New" panose="02070309020205020404" pitchFamily="49" charset="0"/>
              </a:rPr>
              <a:t> = 5</a:t>
            </a:r>
            <a:r>
              <a:rPr lang="en-US" sz="1100" dirty="0"/>
              <a:t>, then a point is a core point if there are </a:t>
            </a:r>
            <a:r>
              <a:rPr lang="en-US" sz="1100" b="1" dirty="0"/>
              <a:t>5 or more points</a:t>
            </a:r>
            <a:r>
              <a:rPr lang="en-US" sz="1100" dirty="0"/>
              <a:t> (including itself) within ε distance.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A4BDED9-3E21-FFC6-1F69-EAFFB94DEF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2443" y="541342"/>
            <a:ext cx="3107664" cy="185128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29EF117-61EB-CF25-7D73-7B5A2BE51987}"/>
              </a:ext>
            </a:extLst>
          </p:cNvPr>
          <p:cNvSpPr txBox="1"/>
          <p:nvPr/>
        </p:nvSpPr>
        <p:spPr>
          <a:xfrm>
            <a:off x="374870" y="80779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https://clustering-visualizer.web.app/dbscan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bscan">
            <a:hlinkClick r:id="" action="ppaction://media"/>
            <a:extLst>
              <a:ext uri="{FF2B5EF4-FFF2-40B4-BE49-F238E27FC236}">
                <a16:creationId xmlns:a16="http://schemas.microsoft.com/office/drawing/2014/main" id="{9B79573F-0163-C496-21C0-006D531D2D2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9635" y="33545"/>
            <a:ext cx="9008386" cy="5067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648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26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48782"/>
            <a:ext cx="8572500" cy="469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750" b="1" kern="0" spc="4" dirty="0">
                <a:solidFill>
                  <a:srgbClr val="2D5A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WHY CHOOSE DBSCAN?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571500" y="1647109"/>
            <a:ext cx="3857625" cy="1549105"/>
          </a:xfrm>
          <a:prstGeom prst="rect">
            <a:avLst/>
          </a:prstGeom>
          <a:solidFill>
            <a:srgbClr val="FF9F1C"/>
          </a:solidFill>
          <a:ln w="45720">
            <a:solidFill>
              <a:srgbClr val="2D5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85813" y="2165728"/>
            <a:ext cx="34290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NO PREDEFINED CLUSTERS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85813" y="2574708"/>
            <a:ext cx="34290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Unlike K-Means, you don't need to specify the number of clusters (K) in advance. It discovers them automatically.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714875" y="1647109"/>
            <a:ext cx="3857625" cy="1549105"/>
          </a:xfrm>
          <a:prstGeom prst="rect">
            <a:avLst/>
          </a:prstGeom>
          <a:solidFill>
            <a:srgbClr val="9B5DE5"/>
          </a:solidFill>
          <a:ln w="45720">
            <a:solidFill>
              <a:srgbClr val="2D5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929188" y="2105565"/>
            <a:ext cx="34290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HANDLES IRREGULAR SHAPES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929188" y="2514544"/>
            <a:ext cx="34290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It can identify clusters of any shape—circular, elongated, or even nested—where distance-based methods fail.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71500" y="3361609"/>
            <a:ext cx="3857625" cy="1549105"/>
          </a:xfrm>
          <a:prstGeom prst="rect">
            <a:avLst/>
          </a:prstGeom>
          <a:solidFill>
            <a:srgbClr val="FFFFFF"/>
          </a:solidFill>
          <a:ln w="45720">
            <a:solidFill>
              <a:srgbClr val="2D5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85813" y="3820065"/>
            <a:ext cx="34290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ROBUST TO OUTLIERS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85813" y="4229044"/>
            <a:ext cx="34290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DBSCAN is naturally resistant to noise. It labels isolated points as "noise" rather than forcing them into a cluster.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714875" y="3361609"/>
            <a:ext cx="3857625" cy="1428750"/>
          </a:xfrm>
          <a:prstGeom prst="rect">
            <a:avLst/>
          </a:prstGeom>
          <a:solidFill>
            <a:srgbClr val="2D5A27"/>
          </a:solidFill>
          <a:ln w="45720">
            <a:solidFill>
              <a:srgbClr val="2D5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929188" y="3820065"/>
            <a:ext cx="34290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SCALABLE PERFORMANCE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29188" y="4229044"/>
            <a:ext cx="34290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Highly efficient for large spatial databases, making it a go-to choice for real-world big data applications.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48782"/>
            <a:ext cx="8572500" cy="469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750" b="1" kern="0" spc="4" dirty="0">
                <a:solidFill>
                  <a:srgbClr val="2D5A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WHERE IS DBSCAN USED?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714375" y="1285875"/>
            <a:ext cx="2286000" cy="1428750"/>
          </a:xfrm>
          <a:prstGeom prst="rect">
            <a:avLst/>
          </a:prstGeom>
          <a:solidFill>
            <a:srgbClr val="FF9F1C"/>
          </a:solidFill>
          <a:ln w="45720">
            <a:solidFill>
              <a:srgbClr val="2D5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92969" y="1459836"/>
            <a:ext cx="1928813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ANOMALY DETECTION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92969" y="2077771"/>
            <a:ext cx="1928813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Identifying fraudulent transactions or network intrusions by spotting isolated noise points.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alphaModFix amt="10000"/>
          </a:blip>
          <a:stretch>
            <a:fillRect/>
          </a:stretch>
        </p:blipFill>
        <p:spPr>
          <a:xfrm>
            <a:off x="2286000" y="2000250"/>
            <a:ext cx="571500" cy="5715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571875" y="1071563"/>
            <a:ext cx="2428875" cy="1571625"/>
          </a:xfrm>
          <a:prstGeom prst="rect">
            <a:avLst/>
          </a:prstGeom>
          <a:solidFill>
            <a:srgbClr val="9B5DE5"/>
          </a:solidFill>
          <a:ln w="45720">
            <a:solidFill>
              <a:srgbClr val="2D5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3750469" y="1511433"/>
            <a:ext cx="207168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SATELLITE IMAGERY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750469" y="1920413"/>
            <a:ext cx="2071688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Grouping similar geographical features or urban areas based on pixel density and proximity.</a:t>
            </a:r>
            <a:endParaRPr lang="en-US" sz="9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>
            <a:alphaModFix amt="10000"/>
          </a:blip>
          <a:stretch>
            <a:fillRect/>
          </a:stretch>
        </p:blipFill>
        <p:spPr>
          <a:xfrm>
            <a:off x="5286375" y="1928813"/>
            <a:ext cx="571500" cy="5715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992981" y="3278981"/>
            <a:ext cx="2500313" cy="1500188"/>
          </a:xfrm>
          <a:prstGeom prst="rect">
            <a:avLst/>
          </a:prstGeom>
          <a:solidFill>
            <a:srgbClr val="FFFFFF"/>
          </a:solidFill>
          <a:ln w="45720">
            <a:solidFill>
              <a:srgbClr val="2D5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1171575" y="3683133"/>
            <a:ext cx="214312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1171575" y="4092113"/>
            <a:ext cx="214312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Finding groups of users with similar niche interests without assuming the number of groups.</a:t>
            </a:r>
            <a:endParaRPr lang="en-US" sz="9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>
            <a:alphaModFix amt="10000"/>
          </a:blip>
          <a:stretch>
            <a:fillRect/>
          </a:stretch>
        </p:blipFill>
        <p:spPr>
          <a:xfrm>
            <a:off x="2778919" y="4064794"/>
            <a:ext cx="571500" cy="5715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357813" y="2857500"/>
            <a:ext cx="2357438" cy="1643063"/>
          </a:xfrm>
          <a:prstGeom prst="rect">
            <a:avLst/>
          </a:prstGeom>
          <a:solidFill>
            <a:srgbClr val="FF9F1C"/>
          </a:solidFill>
          <a:ln w="45720">
            <a:solidFill>
              <a:srgbClr val="2D5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/>
          <p:nvPr/>
        </p:nvSpPr>
        <p:spPr>
          <a:xfrm>
            <a:off x="5536406" y="3333090"/>
            <a:ext cx="200025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NATURAL SCIENCES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5536406" y="3742069"/>
            <a:ext cx="2000250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Clustering stars in astronomy or grouping complex biological data in genetics.</a:t>
            </a:r>
            <a:endParaRPr lang="en-US" sz="9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>
            <a:alphaModFix amt="10000"/>
          </a:blip>
          <a:stretch>
            <a:fillRect/>
          </a:stretch>
        </p:blipFill>
        <p:spPr>
          <a:xfrm>
            <a:off x="7000875" y="3786188"/>
            <a:ext cx="5715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5725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kern="0" spc="7" dirty="0">
                <a:solidFill>
                  <a:srgbClr val="2D5A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SUMMARY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1714500" y="1571625"/>
            <a:ext cx="5715000" cy="2857500"/>
          </a:xfrm>
          <a:prstGeom prst="rect">
            <a:avLst/>
          </a:prstGeom>
          <a:solidFill>
            <a:srgbClr val="FF9F1C"/>
          </a:solidFill>
          <a:ln w="45720">
            <a:solidFill>
              <a:srgbClr val="2D5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6532" y="2257481"/>
            <a:ext cx="200025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563713" y="2230692"/>
            <a:ext cx="432375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Discover patterns without prior assumptions.</a:t>
            </a:r>
            <a:endParaRPr lang="en-US" sz="15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0838" y="2720373"/>
            <a:ext cx="200025" cy="2000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728020" y="2693584"/>
            <a:ext cx="93761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Focus on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3665637" y="2693584"/>
            <a:ext cx="69294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density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4358580" y="2693584"/>
            <a:ext cx="236458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rather than distance to a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4246066" y="3013602"/>
            <a:ext cx="65186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center.</a:t>
            </a:r>
            <a:endParaRPr lang="en-US" sz="1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8312" y="3503284"/>
            <a:ext cx="200025" cy="20002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515493" y="3476495"/>
            <a:ext cx="442019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Ideal for messy, irregular, and noisy real-world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4346079" y="3796512"/>
            <a:ext cx="45184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data.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812C24285FA346AD3F70B3FFD32705" ma:contentTypeVersion="11" ma:contentTypeDescription="Create a new document." ma:contentTypeScope="" ma:versionID="3211cf3c0daa0537199ca9187a87d007">
  <xsd:schema xmlns:xsd="http://www.w3.org/2001/XMLSchema" xmlns:xs="http://www.w3.org/2001/XMLSchema" xmlns:p="http://schemas.microsoft.com/office/2006/metadata/properties" xmlns:ns2="5994b4ae-926e-4a44-b497-c986ec72bd6f" xmlns:ns3="55a2a44f-2c6c-4737-b2c4-b0c2d95e7e73" targetNamespace="http://schemas.microsoft.com/office/2006/metadata/properties" ma:root="true" ma:fieldsID="1649eb8dd7f6517b8c3736ed54285932" ns2:_="" ns3:_="">
    <xsd:import namespace="5994b4ae-926e-4a44-b497-c986ec72bd6f"/>
    <xsd:import namespace="55a2a44f-2c6c-4737-b2c4-b0c2d95e7e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94b4ae-926e-4a44-b497-c986ec72bd6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b10c9dd7-4a39-4251-aab3-b81fdc61ee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a2a44f-2c6c-4737-b2c4-b0c2d95e7e7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5aa83b47-4314-4dc9-9b60-4a441a816113}" ma:internalName="TaxCatchAll" ma:showField="CatchAllData" ma:web="55a2a44f-2c6c-4737-b2c4-b0c2d95e7e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5a2a44f-2c6c-4737-b2c4-b0c2d95e7e73" xsi:nil="true"/>
    <lcf76f155ced4ddcb4097134ff3c332f xmlns="5994b4ae-926e-4a44-b497-c986ec72bd6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3D00B51-F0B3-430D-AC22-C45DAC555AA3}"/>
</file>

<file path=customXml/itemProps2.xml><?xml version="1.0" encoding="utf-8"?>
<ds:datastoreItem xmlns:ds="http://schemas.openxmlformats.org/officeDocument/2006/customXml" ds:itemID="{5A9B5875-CE94-4F88-BD86-5BD0AB18B4EA}"/>
</file>

<file path=customXml/itemProps3.xml><?xml version="1.0" encoding="utf-8"?>
<ds:datastoreItem xmlns:ds="http://schemas.openxmlformats.org/officeDocument/2006/customXml" ds:itemID="{28A90366-87D5-4A55-A79C-E3FEDC62368E}"/>
</file>

<file path=docMetadata/LabelInfo.xml><?xml version="1.0" encoding="utf-8"?>
<clbl:labelList xmlns:clbl="http://schemas.microsoft.com/office/2020/mipLabelMetadata">
  <clbl:label id="{634c330b-3c51-42a1-b13e-90ea1ac015c2}" enabled="1" method="Privileged" siteId="{3b07dc1f-22e7-4be1-ac66-a88bf355022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387</Words>
  <Application>Microsoft Office PowerPoint</Application>
  <PresentationFormat>On-screen Show (16:9)</PresentationFormat>
  <Paragraphs>52</Paragraphs>
  <Slides>7</Slides>
  <Notes>7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Courier New</vt:lpstr>
      <vt:lpstr>Lora Medium</vt:lpstr>
      <vt:lpstr>Montserrat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Bhandari, Miraj</cp:lastModifiedBy>
  <cp:revision>5</cp:revision>
  <dcterms:created xsi:type="dcterms:W3CDTF">2026-06-27T16:20:06Z</dcterms:created>
  <dcterms:modified xsi:type="dcterms:W3CDTF">2026-06-27T16:41:30Z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0x0101005E812C24285FA346AD3F70B3FFD32705</vt:lpwstr>
  </property>
</Properties>
</file>