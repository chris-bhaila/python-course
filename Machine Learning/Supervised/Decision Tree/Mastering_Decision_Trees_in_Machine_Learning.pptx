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3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2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Metadata/LabelInfo.xml" ContentType="application/vnd.ms-office.classificationlabels+xml"/>
  <Override PartName="/ppt/changesInfos/changesInfo1.xml" ContentType="application/vnd.ms-powerpoint.changesinfo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68" r:id="rId5"/>
    <p:sldId id="260" r:id="rId6"/>
    <p:sldId id="286" r:id="rId7"/>
    <p:sldId id="270" r:id="rId8"/>
    <p:sldId id="272" r:id="rId9"/>
    <p:sldId id="271" r:id="rId10"/>
    <p:sldId id="273" r:id="rId11"/>
    <p:sldId id="275" r:id="rId12"/>
    <p:sldId id="274" r:id="rId13"/>
    <p:sldId id="278" r:id="rId14"/>
    <p:sldId id="276" r:id="rId15"/>
    <p:sldId id="277" r:id="rId16"/>
    <p:sldId id="279" r:id="rId17"/>
    <p:sldId id="280" r:id="rId18"/>
    <p:sldId id="281" r:id="rId19"/>
    <p:sldId id="282" r:id="rId20"/>
    <p:sldId id="283" r:id="rId21"/>
    <p:sldId id="285" r:id="rId22"/>
    <p:sldId id="262" r:id="rId23"/>
    <p:sldId id="290" r:id="rId24"/>
    <p:sldId id="287" r:id="rId25"/>
    <p:sldId id="288" r:id="rId2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36" d="100"/>
          <a:sy n="136" d="100"/>
        </p:scale>
        <p:origin x="38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customXml" Target="../customXml/item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customXml" Target="../customXml/item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Relationship Id="rId35" Type="http://schemas.openxmlformats.org/officeDocument/2006/relationships/customXml" Target="../customXml/item3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handari, Miraj" userId="0d44bc06-2b8f-40ab-92c6-f4fd8615fd13" providerId="ADAL" clId="{EF3D1119-16C9-4ABB-BA8B-B310D4070A74}"/>
    <pc:docChg chg="modSld">
      <pc:chgData name="Bhandari, Miraj" userId="0d44bc06-2b8f-40ab-92c6-f4fd8615fd13" providerId="ADAL" clId="{EF3D1119-16C9-4ABB-BA8B-B310D4070A74}" dt="2026-06-13T11:15:44.710" v="0" actId="1076"/>
      <pc:docMkLst>
        <pc:docMk/>
      </pc:docMkLst>
      <pc:sldChg chg="modSp mod">
        <pc:chgData name="Bhandari, Miraj" userId="0d44bc06-2b8f-40ab-92c6-f4fd8615fd13" providerId="ADAL" clId="{EF3D1119-16C9-4ABB-BA8B-B310D4070A74}" dt="2026-06-13T11:15:44.710" v="0" actId="1076"/>
        <pc:sldMkLst>
          <pc:docMk/>
          <pc:sldMk cId="623751564" sldId="288"/>
        </pc:sldMkLst>
        <pc:picChg chg="mod">
          <ac:chgData name="Bhandari, Miraj" userId="0d44bc06-2b8f-40ab-92c6-f4fd8615fd13" providerId="ADAL" clId="{EF3D1119-16C9-4ABB-BA8B-B310D4070A74}" dt="2026-06-13T11:15:44.710" v="0" actId="1076"/>
          <ac:picMkLst>
            <pc:docMk/>
            <pc:sldMk cId="623751564" sldId="288"/>
            <ac:picMk id="7" creationId="{615F9F96-BD4D-D83B-815E-DCD717AE7436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891188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6CADF8-261F-31F4-8682-AAFBE4D731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DD1202-7BF9-2313-9633-0FA8B9B988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C9DB68-758B-E283-F604-EA96118238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59E587-ADEC-13B5-BFBC-218091F6487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49202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943EA4-FAE0-745B-6CA5-ADBA2E411E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8C751B-57D0-0ADA-56AC-E95C19F360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577923-D1F4-E4C9-F6CB-BFA73DD6DD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ADB498-9157-1DD1-1A83-70EB1D03931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63386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3C97AE8-873C-BBF2-4ACA-568037AE0E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1708A-F574-4170-9BDC-22F9AC8A06D3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4AB4826-B64D-9978-7ACE-8D4412624B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1310EB-A841-1561-4637-A3D3F7A91B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89DA75-B673-41A7-B88A-BA974B43F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72175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2391035"/>
            <a:ext cx="5715000" cy="10058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300" b="1" dirty="0">
                <a:solidFill>
                  <a:srgbClr val="6B2D5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Mastering Decision Trees
in Machine Learning</a:t>
            </a:r>
            <a:endParaRPr lang="en-US" sz="3300" dirty="0"/>
          </a:p>
        </p:txBody>
      </p:sp>
      <p:sp>
        <p:nvSpPr>
          <p:cNvPr id="4" name="Text 1"/>
          <p:cNvSpPr/>
          <p:nvPr/>
        </p:nvSpPr>
        <p:spPr>
          <a:xfrm>
            <a:off x="571500" y="3539728"/>
            <a:ext cx="5715000" cy="582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1C233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From Fundamental Concepts to Practical Implementation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571500" y="4407694"/>
            <a:ext cx="5715000" cy="1461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kern="0" spc="2" dirty="0">
                <a:solidFill>
                  <a:srgbClr val="6B2D5C"/>
                </a:solidFill>
                <a:latin typeface="Space Grotesk" pitchFamily="34" charset="0"/>
                <a:ea typeface="Space Grotesk" pitchFamily="34" charset="-122"/>
              </a:rPr>
              <a:t>By – Miraj Deep Bhandari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714375"/>
            <a:ext cx="4000500" cy="3847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chemeClr val="accent2">
                    <a:lumMod val="75000"/>
                  </a:scheme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Decision Tree mimics human decision-making through a hierarchical structure.</a:t>
            </a:r>
            <a:endParaRPr lang="en-US" sz="125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4" name="Text 1"/>
          <p:cNvSpPr/>
          <p:nvPr/>
        </p:nvSpPr>
        <p:spPr>
          <a:xfrm>
            <a:off x="621506" y="1364456"/>
            <a:ext cx="3807619" cy="364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C233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Root Node:</a:t>
            </a:r>
            <a:r>
              <a:rPr lang="en-US" sz="1050" dirty="0">
                <a:solidFill>
                  <a:srgbClr val="1C233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The starting point representing the entire dataset.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621506" y="2157413"/>
            <a:ext cx="3807619" cy="364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C233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Internal Nodes:</a:t>
            </a:r>
            <a:r>
              <a:rPr lang="en-US" sz="1050" dirty="0">
                <a:solidFill>
                  <a:srgbClr val="1C233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Decision points based on specific feature thresholds.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621506" y="2950369"/>
            <a:ext cx="3807619" cy="364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C233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Leaf Nodes:</a:t>
            </a:r>
            <a:r>
              <a:rPr lang="en-US" sz="1050" dirty="0">
                <a:solidFill>
                  <a:srgbClr val="1C233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Terminal points that provide the final output.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714875" y="1000125"/>
            <a:ext cx="4000500" cy="714375"/>
          </a:xfrm>
          <a:prstGeom prst="rect">
            <a:avLst/>
          </a:prstGeom>
          <a:solidFill>
            <a:srgbClr val="E5E8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4857750" y="1143000"/>
            <a:ext cx="3714750" cy="4036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50" i="1" dirty="0">
                <a:solidFill>
                  <a:srgbClr val="1C233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"Think of it as a flowchart where every path leads to a specific conclusion."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428625" y="3891948"/>
            <a:ext cx="2857500" cy="8229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450" b="1" dirty="0">
                <a:solidFill>
                  <a:srgbClr val="6B2D5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What is a
Decision Tree?</a:t>
            </a:r>
            <a:endParaRPr lang="en-US" sz="245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7041BFA-83B6-07F9-8639-1A2FC15199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95208" y="1936304"/>
            <a:ext cx="3027286" cy="288448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28625"/>
            <a:ext cx="3929063" cy="3847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chemeClr val="accent2">
                    <a:lumMod val="75000"/>
                  </a:scheme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Algorithms use mathematical measures to determine the most "informative" split.</a:t>
            </a:r>
            <a:endParaRPr lang="en-US" sz="125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4" name="Text 1"/>
          <p:cNvSpPr/>
          <p:nvPr/>
        </p:nvSpPr>
        <p:spPr>
          <a:xfrm>
            <a:off x="621506" y="1078706"/>
            <a:ext cx="3736181" cy="161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C233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Entropy:</a:t>
            </a:r>
            <a:r>
              <a:rPr lang="en-US" sz="1050" dirty="0">
                <a:solidFill>
                  <a:srgbClr val="1C233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A measure of disorder or impurity in a dataset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621506" y="1621631"/>
            <a:ext cx="3736181" cy="4770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en-US" sz="1000" b="1" dirty="0">
                <a:solidFill>
                  <a:srgbClr val="1C233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Information Gain:</a:t>
            </a:r>
            <a:r>
              <a:rPr lang="en-US" sz="1050" dirty="0">
                <a:solidFill>
                  <a:srgbClr val="1C233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The reduction in entropy achieved after splitting the data. </a:t>
            </a:r>
            <a:r>
              <a:rPr lang="en-US" sz="1000" dirty="0"/>
              <a:t>A high Information Gain means that the feature creates purer subsets after the split.</a:t>
            </a:r>
          </a:p>
        </p:txBody>
      </p:sp>
      <p:sp>
        <p:nvSpPr>
          <p:cNvPr id="6" name="Text 3"/>
          <p:cNvSpPr/>
          <p:nvPr/>
        </p:nvSpPr>
        <p:spPr>
          <a:xfrm>
            <a:off x="621506" y="2164556"/>
            <a:ext cx="3736181" cy="364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C233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Selection:</a:t>
            </a:r>
            <a:r>
              <a:rPr lang="en-US" sz="1050" dirty="0">
                <a:solidFill>
                  <a:srgbClr val="1C233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The feature with the highest Information Gain is chosen for the node split.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007769" y="650081"/>
            <a:ext cx="3486150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C233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Entropy Formula: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5686202" y="939403"/>
            <a:ext cx="1236315" cy="3036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700" dirty="0">
                <a:solidFill>
                  <a:srgbClr val="6B2D5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H(S) = - ∑ P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6922517" y="1027974"/>
            <a:ext cx="60722" cy="2536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400" baseline="-40000" dirty="0">
                <a:solidFill>
                  <a:srgbClr val="6B2D5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i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983239" y="939403"/>
            <a:ext cx="375047" cy="3036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700" dirty="0">
                <a:solidFill>
                  <a:srgbClr val="6B2D5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log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7358286" y="1027974"/>
            <a:ext cx="100013" cy="2536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400" baseline="-40000" dirty="0">
                <a:solidFill>
                  <a:srgbClr val="6B2D5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458298" y="939403"/>
            <a:ext cx="223242" cy="3036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700" dirty="0">
                <a:solidFill>
                  <a:srgbClr val="6B2D5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(P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7681540" y="1027974"/>
            <a:ext cx="60722" cy="2536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400" baseline="-40000" dirty="0">
                <a:solidFill>
                  <a:srgbClr val="6B2D5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i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7742262" y="939403"/>
            <a:ext cx="73223" cy="3036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700" dirty="0">
                <a:solidFill>
                  <a:srgbClr val="6B2D5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)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5007769" y="1424453"/>
            <a:ext cx="3486150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1C2331">
                    <a:alpha val="80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Range: 0 (Pure) to 1 (Maximum Impurity)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147499" y="3487312"/>
            <a:ext cx="3571875" cy="12343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450" b="1" dirty="0">
                <a:solidFill>
                  <a:srgbClr val="6B2D5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Measuring Purity:
Entropy &amp; Information Gain</a:t>
            </a:r>
            <a:endParaRPr lang="en-US" sz="245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365FD6F-0337-FD33-6CAC-F5509485120F}"/>
              </a:ext>
            </a:extLst>
          </p:cNvPr>
          <p:cNvSpPr txBox="1"/>
          <p:nvPr/>
        </p:nvSpPr>
        <p:spPr>
          <a:xfrm>
            <a:off x="3591970" y="2528887"/>
            <a:ext cx="4952344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200" b="1" dirty="0"/>
              <a:t>Example</a:t>
            </a:r>
          </a:p>
          <a:p>
            <a:pPr>
              <a:buNone/>
            </a:pPr>
            <a:r>
              <a:rPr lang="en-US" sz="1200" dirty="0"/>
              <a:t>Suppose you're choosing between two features to split a dataset: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b="1" dirty="0"/>
              <a:t>Feature A</a:t>
            </a:r>
            <a:r>
              <a:rPr lang="en-US" sz="1200" dirty="0"/>
              <a:t> separates the data into almost all </a:t>
            </a:r>
            <a:r>
              <a:rPr lang="en-US" sz="1200" b="1" dirty="0"/>
              <a:t>Yes</a:t>
            </a:r>
            <a:r>
              <a:rPr lang="en-US" sz="1200" dirty="0"/>
              <a:t> and all </a:t>
            </a:r>
            <a:r>
              <a:rPr lang="en-US" sz="1200" b="1" dirty="0"/>
              <a:t>No</a:t>
            </a:r>
            <a:r>
              <a:rPr lang="en-US" sz="1200" dirty="0"/>
              <a:t> groups.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b="1" dirty="0"/>
              <a:t>Feature B</a:t>
            </a:r>
            <a:r>
              <a:rPr lang="en-US" sz="1200" dirty="0"/>
              <a:t> creates groups that still contain a mix of </a:t>
            </a:r>
            <a:r>
              <a:rPr lang="en-US" sz="1200" b="1" dirty="0"/>
              <a:t>Yes</a:t>
            </a:r>
            <a:r>
              <a:rPr lang="en-US" sz="1200" dirty="0"/>
              <a:t> and </a:t>
            </a:r>
            <a:r>
              <a:rPr lang="en-US" sz="1200" b="1" dirty="0"/>
              <a:t>No</a:t>
            </a:r>
            <a:r>
              <a:rPr lang="en-US" sz="1200" dirty="0"/>
              <a:t>. </a:t>
            </a:r>
          </a:p>
          <a:p>
            <a:pPr lvl="1"/>
            <a:r>
              <a:rPr lang="en-US" sz="1200" dirty="0"/>
              <a:t>Then: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b="1" dirty="0"/>
              <a:t> Feature A → High Information Gain</a:t>
            </a:r>
            <a:r>
              <a:rPr lang="en-US" sz="1200" dirty="0"/>
              <a:t> (low impurity after the split)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b="1" dirty="0"/>
              <a:t> Feature B → Low Information Gain</a:t>
            </a:r>
            <a:r>
              <a:rPr lang="en-US" sz="1200" dirty="0"/>
              <a:t> (high impurity after the split)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DBBC23-47D1-B5E7-69A5-D40E11A1B0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BDF5648C-07DD-E0D1-0D72-B155771BDD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3A46A5AB-4E82-C164-FA2A-72436E8942C5}"/>
              </a:ext>
            </a:extLst>
          </p:cNvPr>
          <p:cNvSpPr/>
          <p:nvPr/>
        </p:nvSpPr>
        <p:spPr>
          <a:xfrm>
            <a:off x="428625" y="428625"/>
            <a:ext cx="4714875" cy="3847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chemeClr val="accent2">
                    <a:lumMod val="75000"/>
                  </a:scheme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Gini Impurity is the default metric in Scikit-learn due to its computational efficiency.</a:t>
            </a:r>
            <a:endParaRPr lang="en-US" sz="125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7693BD21-4311-7E5C-B702-4F75EAFEF54B}"/>
              </a:ext>
            </a:extLst>
          </p:cNvPr>
          <p:cNvSpPr/>
          <p:nvPr/>
        </p:nvSpPr>
        <p:spPr>
          <a:xfrm>
            <a:off x="621506" y="1078706"/>
            <a:ext cx="4521994" cy="153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en-US" sz="1000" b="1" dirty="0">
                <a:solidFill>
                  <a:srgbClr val="1C233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Definition:</a:t>
            </a:r>
            <a:r>
              <a:rPr lang="en-US" sz="1000" dirty="0"/>
              <a:t> A measure of impurity or the probability of misclassification in a dataset.</a:t>
            </a: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C29741BE-FC67-C769-17FD-B6161CD161D4}"/>
              </a:ext>
            </a:extLst>
          </p:cNvPr>
          <p:cNvSpPr/>
          <p:nvPr/>
        </p:nvSpPr>
        <p:spPr>
          <a:xfrm>
            <a:off x="621506" y="1621631"/>
            <a:ext cx="4521994" cy="364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C233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Efficiency:</a:t>
            </a:r>
            <a:r>
              <a:rPr lang="en-US" sz="1050" dirty="0">
                <a:solidFill>
                  <a:srgbClr val="1C233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Unlike Entropy, Gini avoids logarithmic calculations, making it faster for large datasets.</a:t>
            </a:r>
            <a:endParaRPr lang="en-US" sz="10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002FCA95-AE03-FA06-9820-7A4A3955C474}"/>
              </a:ext>
            </a:extLst>
          </p:cNvPr>
          <p:cNvSpPr/>
          <p:nvPr/>
        </p:nvSpPr>
        <p:spPr>
          <a:xfrm>
            <a:off x="621506" y="2164556"/>
            <a:ext cx="4521994" cy="364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C233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Comparison:</a:t>
            </a:r>
            <a:r>
              <a:rPr lang="en-US" sz="1050" dirty="0">
                <a:solidFill>
                  <a:srgbClr val="1C233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Both metrics usually lead to similar tree structures, but Gini is optimized for performance.</a:t>
            </a:r>
            <a:endParaRPr lang="en-US" sz="10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8A7A1682-BB7D-D01D-4D98-1C7EBE21E7BD}"/>
              </a:ext>
            </a:extLst>
          </p:cNvPr>
          <p:cNvSpPr/>
          <p:nvPr/>
        </p:nvSpPr>
        <p:spPr>
          <a:xfrm>
            <a:off x="428625" y="2814638"/>
            <a:ext cx="4714875" cy="478631"/>
          </a:xfrm>
          <a:prstGeom prst="rect">
            <a:avLst/>
          </a:prstGeom>
          <a:noFill/>
          <a:ln/>
        </p:spPr>
        <p:txBody>
          <a:bodyPr wrap="square" lIns="0" tIns="170053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1C233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"Gini is often preferred when computational resources or speed are primary concerns."</a:t>
            </a:r>
            <a:endParaRPr lang="en-US" sz="950" dirty="0"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0781131C-44EA-24B0-F065-8B5B74201ABD}"/>
              </a:ext>
            </a:extLst>
          </p:cNvPr>
          <p:cNvSpPr/>
          <p:nvPr/>
        </p:nvSpPr>
        <p:spPr>
          <a:xfrm>
            <a:off x="5572125" y="428625"/>
            <a:ext cx="3143250" cy="1571625"/>
          </a:xfrm>
          <a:prstGeom prst="rect">
            <a:avLst/>
          </a:prstGeom>
          <a:solidFill>
            <a:srgbClr val="6B2D5C">
              <a:alpha val="5000"/>
            </a:srgbClr>
          </a:solidFill>
          <a:ln w="9144">
            <a:solidFill>
              <a:srgbClr val="6B2D5C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1CDF43ED-D210-A7B3-7A6C-1FB110D8F4F4}"/>
              </a:ext>
            </a:extLst>
          </p:cNvPr>
          <p:cNvSpPr/>
          <p:nvPr/>
        </p:nvSpPr>
        <p:spPr>
          <a:xfrm>
            <a:off x="5786438" y="642938"/>
            <a:ext cx="2714625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kern="0" spc="1" dirty="0">
                <a:solidFill>
                  <a:srgbClr val="1C233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GINI FORMULA:</a:t>
            </a:r>
            <a:endParaRPr lang="en-US" sz="800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564B3A69-64FD-585E-FC3E-1BEEE792C348}"/>
              </a:ext>
            </a:extLst>
          </p:cNvPr>
          <p:cNvSpPr/>
          <p:nvPr/>
        </p:nvSpPr>
        <p:spPr>
          <a:xfrm>
            <a:off x="6239480" y="1009055"/>
            <a:ext cx="154600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900" dirty="0">
                <a:solidFill>
                  <a:srgbClr val="6B2D5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G.I. = 1 - ∑ (P</a:t>
            </a:r>
            <a:endParaRPr lang="en-US" sz="1900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3294F7C2-66C3-6FE1-6820-63270FBC5234}"/>
              </a:ext>
            </a:extLst>
          </p:cNvPr>
          <p:cNvSpPr/>
          <p:nvPr/>
        </p:nvSpPr>
        <p:spPr>
          <a:xfrm>
            <a:off x="7785488" y="1108704"/>
            <a:ext cx="67866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600" baseline="-40000" dirty="0">
                <a:solidFill>
                  <a:srgbClr val="6B2D5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i</a:t>
            </a:r>
            <a:endParaRPr lang="en-US" sz="1600" dirty="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0F113AF1-328C-7908-DF20-DA84820A8B86}"/>
              </a:ext>
            </a:extLst>
          </p:cNvPr>
          <p:cNvSpPr/>
          <p:nvPr/>
        </p:nvSpPr>
        <p:spPr>
          <a:xfrm>
            <a:off x="7853353" y="1009055"/>
            <a:ext cx="82153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900" dirty="0">
                <a:solidFill>
                  <a:srgbClr val="6B2D5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)</a:t>
            </a:r>
            <a:endParaRPr lang="en-US" sz="1900" dirty="0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57A1DB4F-5712-3EC7-3311-65E94128DAE9}"/>
              </a:ext>
            </a:extLst>
          </p:cNvPr>
          <p:cNvSpPr/>
          <p:nvPr/>
        </p:nvSpPr>
        <p:spPr>
          <a:xfrm>
            <a:off x="7935506" y="967978"/>
            <a:ext cx="112514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600" baseline="30000" dirty="0">
                <a:solidFill>
                  <a:srgbClr val="6B2D5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CE49002B-975E-6877-EBCE-AB86940DFFFB}"/>
              </a:ext>
            </a:extLst>
          </p:cNvPr>
          <p:cNvSpPr/>
          <p:nvPr/>
        </p:nvSpPr>
        <p:spPr>
          <a:xfrm>
            <a:off x="6166842" y="1573048"/>
            <a:ext cx="442913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1C233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Where P</a:t>
            </a:r>
            <a:endParaRPr lang="en-US" sz="850" dirty="0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9851F7F7-C643-6D84-79CB-BDDAA8D5BBE5}"/>
              </a:ext>
            </a:extLst>
          </p:cNvPr>
          <p:cNvSpPr/>
          <p:nvPr/>
        </p:nvSpPr>
        <p:spPr>
          <a:xfrm>
            <a:off x="6609755" y="1617334"/>
            <a:ext cx="23217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700" baseline="-40000" dirty="0">
                <a:solidFill>
                  <a:srgbClr val="1C233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</a:t>
            </a:r>
            <a:endParaRPr lang="en-US" sz="700" dirty="0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0B09CC7A-DAD3-ECD3-D117-108163BD5359}"/>
              </a:ext>
            </a:extLst>
          </p:cNvPr>
          <p:cNvSpPr/>
          <p:nvPr/>
        </p:nvSpPr>
        <p:spPr>
          <a:xfrm>
            <a:off x="6632972" y="1573048"/>
            <a:ext cx="1487686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1C233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is the probability of class i</a:t>
            </a:r>
            <a:endParaRPr lang="en-US" sz="850" dirty="0"/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08AB9B19-48E6-55A9-7744-BA3DE2EB0951}"/>
              </a:ext>
            </a:extLst>
          </p:cNvPr>
          <p:cNvSpPr/>
          <p:nvPr/>
        </p:nvSpPr>
        <p:spPr>
          <a:xfrm>
            <a:off x="428625" y="3480485"/>
            <a:ext cx="3571875" cy="12343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450" b="1" dirty="0">
                <a:solidFill>
                  <a:srgbClr val="6B2D5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Gini Impurity:
The Efficient Alternative</a:t>
            </a:r>
            <a:endParaRPr lang="en-US" sz="2450" dirty="0"/>
          </a:p>
        </p:txBody>
      </p:sp>
    </p:spTree>
    <p:extLst>
      <p:ext uri="{BB962C8B-B14F-4D97-AF65-F5344CB8AC3E}">
        <p14:creationId xmlns:p14="http://schemas.microsoft.com/office/powerpoint/2010/main" val="14611000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933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28625"/>
            <a:ext cx="4714875" cy="3847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en-US" sz="1250" dirty="0">
                <a:solidFill>
                  <a:schemeClr val="accent2">
                    <a:lumMod val="75000"/>
                  </a:scheme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decision tree can split nodes using either Entropy (Information Gain) or Gini Impurity (Gini Reduction), depending on the algorithm used.</a:t>
            </a:r>
            <a:endParaRPr lang="en-US" sz="125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4" name="Text 1"/>
          <p:cNvSpPr/>
          <p:nvPr/>
        </p:nvSpPr>
        <p:spPr>
          <a:xfrm>
            <a:off x="621506" y="1078706"/>
            <a:ext cx="4521994" cy="4924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en-US" sz="1200" dirty="0"/>
              <a:t>I</a:t>
            </a:r>
            <a:r>
              <a:rPr lang="en-US" sz="1200" b="1" dirty="0"/>
              <a:t>D3</a:t>
            </a:r>
            <a:r>
              <a:rPr lang="en-US" sz="1200" dirty="0"/>
              <a:t> uses Entropy and Information Gain</a:t>
            </a:r>
            <a:r>
              <a:rPr lang="en-US" sz="1000" dirty="0"/>
              <a:t>.</a:t>
            </a:r>
            <a:br>
              <a:rPr lang="en-US" sz="1000" dirty="0"/>
            </a:br>
            <a:br>
              <a:rPr lang="en-US" sz="1000" dirty="0"/>
            </a:b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621506" y="1621631"/>
            <a:ext cx="4521994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en-US" sz="1200" b="1" dirty="0"/>
              <a:t>CART</a:t>
            </a:r>
            <a:r>
              <a:rPr lang="en-US" sz="1200" dirty="0"/>
              <a:t> uses Gini Impurity and Gini Reduction</a:t>
            </a:r>
            <a:r>
              <a:rPr lang="en-US" sz="1000" dirty="0"/>
              <a:t>.</a:t>
            </a:r>
          </a:p>
        </p:txBody>
      </p:sp>
      <p:sp>
        <p:nvSpPr>
          <p:cNvPr id="6" name="Text 3"/>
          <p:cNvSpPr/>
          <p:nvPr/>
        </p:nvSpPr>
        <p:spPr>
          <a:xfrm>
            <a:off x="621506" y="2314575"/>
            <a:ext cx="4521994" cy="3077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en-US" sz="1000" b="1" dirty="0"/>
              <a:t>We will see how ID3 works in this slide</a:t>
            </a:r>
            <a:r>
              <a:rPr lang="en-US" sz="1000" dirty="0"/>
              <a:t>. CART also works similarly to ID3, only the formula is different.</a:t>
            </a:r>
          </a:p>
        </p:txBody>
      </p:sp>
      <p:sp>
        <p:nvSpPr>
          <p:cNvPr id="7" name="Text 4"/>
          <p:cNvSpPr/>
          <p:nvPr/>
        </p:nvSpPr>
        <p:spPr>
          <a:xfrm>
            <a:off x="5678171" y="572143"/>
            <a:ext cx="2700338" cy="1077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/>
              <a:t>Information gain:</a:t>
            </a:r>
          </a:p>
        </p:txBody>
      </p:sp>
      <p:sp>
        <p:nvSpPr>
          <p:cNvPr id="12" name="Text 9"/>
          <p:cNvSpPr/>
          <p:nvPr/>
        </p:nvSpPr>
        <p:spPr>
          <a:xfrm>
            <a:off x="428625" y="3891948"/>
            <a:ext cx="3571875" cy="7239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450" b="1" dirty="0">
                <a:solidFill>
                  <a:srgbClr val="6B2D5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Different Trees
Algorithms</a:t>
            </a:r>
            <a:endParaRPr lang="en-US" sz="245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503F2BF-19D3-09C3-DC8E-4BB3BB0726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47345" y="807676"/>
            <a:ext cx="2992810" cy="306749"/>
          </a:xfrm>
          <a:prstGeom prst="rect">
            <a:avLst/>
          </a:prstGeom>
        </p:spPr>
      </p:pic>
      <p:sp>
        <p:nvSpPr>
          <p:cNvPr id="15" name="Text 4">
            <a:extLst>
              <a:ext uri="{FF2B5EF4-FFF2-40B4-BE49-F238E27FC236}">
                <a16:creationId xmlns:a16="http://schemas.microsoft.com/office/drawing/2014/main" id="{BFA75A8D-D5E3-5FA0-71D2-9153C2BC3815}"/>
              </a:ext>
            </a:extLst>
          </p:cNvPr>
          <p:cNvSpPr/>
          <p:nvPr/>
        </p:nvSpPr>
        <p:spPr>
          <a:xfrm>
            <a:off x="5678171" y="1271066"/>
            <a:ext cx="2700338" cy="1077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/>
              <a:t>Gini Reduction: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FDBB17CB-4120-54F7-4AAD-CD84CE0B74E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47345" y="1514643"/>
            <a:ext cx="3024712" cy="40745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7ED7575E-88D2-B771-681D-46A7E55415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682342" cy="5143500"/>
          </a:xfrm>
          <a:prstGeom prst="rect">
            <a:avLst/>
          </a:prstGeom>
          <a:solidFill>
            <a:schemeClr val="bg1">
              <a:lumMod val="95000"/>
              <a:alpha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F4C288B-3F22-CB7A-48FA-8B755DD547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926" y="1115976"/>
            <a:ext cx="4666421" cy="2916514"/>
          </a:xfrm>
          <a:prstGeom prst="rect">
            <a:avLst/>
          </a:prstGeom>
        </p:spPr>
      </p:pic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249EDD1B-F94D-B4E6-ACAA-566B9A26FD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149542" y="653359"/>
            <a:ext cx="552704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46421FEC-2F9E-6D71-4ADA-D8859E0534B1}"/>
              </a:ext>
            </a:extLst>
          </p:cNvPr>
          <p:cNvSpPr txBox="1"/>
          <p:nvPr/>
        </p:nvSpPr>
        <p:spPr>
          <a:xfrm>
            <a:off x="6115050" y="1907523"/>
            <a:ext cx="2575635" cy="26992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 dirty="0"/>
              <a:t>Entropy vs Probability Graph:</a:t>
            </a:r>
          </a:p>
        </p:txBody>
      </p:sp>
    </p:spTree>
    <p:extLst>
      <p:ext uri="{BB962C8B-B14F-4D97-AF65-F5344CB8AC3E}">
        <p14:creationId xmlns:p14="http://schemas.microsoft.com/office/powerpoint/2010/main" val="26411846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7A5C84-5B0F-8C1C-E836-0B69F69B22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761E44FB-70EB-0D49-A72B-5DC7AF3D22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275DC127-BCA7-ED72-8728-575B124F920B}"/>
              </a:ext>
            </a:extLst>
          </p:cNvPr>
          <p:cNvSpPr/>
          <p:nvPr/>
        </p:nvSpPr>
        <p:spPr>
          <a:xfrm>
            <a:off x="527111" y="1603772"/>
            <a:ext cx="5715000" cy="17876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300" b="1" dirty="0">
                <a:solidFill>
                  <a:srgbClr val="6B2D5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Decision Trees :</a:t>
            </a:r>
          </a:p>
          <a:p>
            <a:pPr marL="0" indent="0" algn="l">
              <a:lnSpc>
                <a:spcPct val="88000"/>
              </a:lnSpc>
              <a:buNone/>
            </a:pPr>
            <a:endParaRPr lang="en-US" sz="3300" b="1" dirty="0">
              <a:solidFill>
                <a:srgbClr val="6B2D5C"/>
              </a:solidFill>
              <a:latin typeface="Playfair Display Bold" pitchFamily="34" charset="0"/>
              <a:ea typeface="Playfair Display Bold" pitchFamily="34" charset="-122"/>
              <a:cs typeface="Playfair Display Bold" pitchFamily="34" charset="-120"/>
            </a:endParaRPr>
          </a:p>
          <a:p>
            <a:pPr marL="0" indent="0" algn="l">
              <a:lnSpc>
                <a:spcPct val="88000"/>
              </a:lnSpc>
              <a:buNone/>
            </a:pPr>
            <a:r>
              <a:rPr lang="en-US" sz="3300" b="1" dirty="0">
                <a:solidFill>
                  <a:srgbClr val="6B2D5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 </a:t>
            </a:r>
            <a:r>
              <a:rPr lang="en-US" sz="3300" b="1" dirty="0" err="1">
                <a:solidFill>
                  <a:srgbClr val="6B2D5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Intution</a:t>
            </a:r>
            <a:r>
              <a:rPr lang="en-US" sz="3300" b="1" dirty="0">
                <a:solidFill>
                  <a:srgbClr val="6B2D5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
</a:t>
            </a:r>
            <a:endParaRPr lang="en-US" sz="3300" dirty="0"/>
          </a:p>
        </p:txBody>
      </p:sp>
    </p:spTree>
    <p:extLst>
      <p:ext uri="{BB962C8B-B14F-4D97-AF65-F5344CB8AC3E}">
        <p14:creationId xmlns:p14="http://schemas.microsoft.com/office/powerpoint/2010/main" val="38813443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E93595C-6818-E791-16E1-B1E527A799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10697"/>
            <a:ext cx="8809608" cy="4331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85320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C13032C-3611-9D43-C160-64282A6A12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65" y="498119"/>
            <a:ext cx="8874712" cy="3962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81456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CE5D0E-BD26-C0C3-659C-982A581EE8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7DAF597-D1AF-3FD6-377D-50019472B9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573" y="204541"/>
            <a:ext cx="8873392" cy="4657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71872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1A3AD9-6FAE-0A9F-0032-3FC7A5F80B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40CF3EA-EE41-F939-94CA-30EF933F17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183" y="363985"/>
            <a:ext cx="8785633" cy="4338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1772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D8E54F-E3B4-08ED-945C-DE1FF455D2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E45B6E6-151C-F65D-CB40-3CD72864EE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903" y="512499"/>
            <a:ext cx="8800729" cy="4223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06375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9D57F3-BB1B-3E9D-3CD2-78BD08F5A2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D087ACC-DD45-E9E8-FB5E-4430EB7E35A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47829" y="297273"/>
            <a:ext cx="8707525" cy="4412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81749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BA58A4-FD78-C045-F85A-7176321197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3E4ADF0-A2A7-2E6C-08E9-69E000CF5E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657" y="140454"/>
            <a:ext cx="8511154" cy="4521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73211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44F449-D0C1-E565-8FC6-A7A7F4CC1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82E992F-8E6E-E932-97F9-BC42374FFB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507" y="395353"/>
            <a:ext cx="8617674" cy="4226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26552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BA3301-1421-894C-9708-49B502E263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69A93E9-AAE8-CB0A-9176-D8C6F34E60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330" y="484376"/>
            <a:ext cx="8809608" cy="3795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02163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A21478-5E3F-3650-5AC7-944CC523E7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6A7C0CC-C7F8-BB24-D240-FF8A5C052C3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369742" y="-168295"/>
            <a:ext cx="7918486" cy="5023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42672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AEE03D-F663-D6D9-D215-EFD1824185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A4A4C7E-4D8B-7700-95B4-A40BA00216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296" y="573297"/>
            <a:ext cx="8821408" cy="3747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03573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B2846A-12BC-0210-5DEA-D100B924A0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B79E728-AB2A-3513-5CBC-5506514B36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757" y="321544"/>
            <a:ext cx="8734406" cy="4383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92800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191F91-5055-1B91-871B-3825B4230B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5DEE55B-771B-DB77-1A59-974E58B6DC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677" y="489374"/>
            <a:ext cx="8883588" cy="3783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010884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77E6410-2857-4981-56F8-C80388B61C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482" y="555872"/>
            <a:ext cx="8959035" cy="4031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925719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571500"/>
            <a:ext cx="3857625" cy="4193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chemeClr val="accent2">
                    <a:lumMod val="75000"/>
                  </a:schemeClr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Decision trees can become "too deep," memorizing noise instead of learning general patterns.</a:t>
            </a:r>
            <a:endParaRPr lang="en-US" sz="125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4" name="Text 1"/>
          <p:cNvSpPr/>
          <p:nvPr/>
        </p:nvSpPr>
        <p:spPr>
          <a:xfrm>
            <a:off x="621506" y="1577290"/>
            <a:ext cx="3664744" cy="364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B2D5C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Overfitting:</a:t>
            </a:r>
            <a:r>
              <a:rPr lang="en-US" sz="1050" dirty="0">
                <a:solidFill>
                  <a:srgbClr val="1C233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Occurs when the tree perfectly classifies training data but fails on new, unseen data.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621506" y="2155934"/>
            <a:ext cx="3664744" cy="5464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B2D5C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Memorization vs. Learning:</a:t>
            </a:r>
            <a:r>
              <a:rPr lang="en-US" sz="1050" dirty="0">
                <a:solidFill>
                  <a:srgbClr val="1C233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The model captures random fluctuations rather than the underlying distribution.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050631" y="935831"/>
            <a:ext cx="3664744" cy="364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C2331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Complexity:</a:t>
            </a:r>
            <a:r>
              <a:rPr lang="en-US" sz="1050" dirty="0">
                <a:solidFill>
                  <a:srgbClr val="1C233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Every additional split increases the risk of creating branches for outliers.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050631" y="1514475"/>
            <a:ext cx="3664744" cy="364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C2331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High Variance:</a:t>
            </a:r>
            <a:r>
              <a:rPr lang="en-US" sz="1050" dirty="0">
                <a:solidFill>
                  <a:srgbClr val="1C233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Small changes in the training set can lead to drastically different tree structures.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857750" y="2164556"/>
            <a:ext cx="3857625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1C2331">
                    <a:alpha val="80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"A perfect score on training data is often a sign of a failed model."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428625" y="3891948"/>
            <a:ext cx="3571875" cy="8229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450" b="1" dirty="0">
                <a:solidFill>
                  <a:srgbClr val="6B2D5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The Challenge of
Overfitting</a:t>
            </a:r>
            <a:endParaRPr lang="en-US" sz="24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FE52309-51AB-8528-7132-C2ACEC9737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" y="0"/>
            <a:ext cx="9143289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133563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600075" y="1118507"/>
            <a:ext cx="2500312" cy="2624327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EB3406B-E45F-728D-465B-D7DDAD39347C}"/>
              </a:ext>
            </a:extLst>
          </p:cNvPr>
          <p:cNvSpPr txBox="1"/>
          <p:nvPr/>
        </p:nvSpPr>
        <p:spPr>
          <a:xfrm>
            <a:off x="771525" y="1475449"/>
            <a:ext cx="1971675" cy="1910443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70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Max - Depth</a:t>
            </a:r>
            <a:endParaRPr lang="en-US" sz="27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E7BA1AE-8AB6-32FB-42DC-315FF17468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7206" y="1074461"/>
            <a:ext cx="5591570" cy="3340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058571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0ECED6-351D-79CB-6F3A-B3A6903F81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own Arrow 7">
            <a:extLst>
              <a:ext uri="{FF2B5EF4-FFF2-40B4-BE49-F238E27FC236}">
                <a16:creationId xmlns:a16="http://schemas.microsoft.com/office/drawing/2014/main" id="{8C0B212F-3010-F21C-1CB1-26A1F115DE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600075" y="1118507"/>
            <a:ext cx="2500312" cy="2624327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B0570F3-594B-D099-D2D2-7684F405DC12}"/>
              </a:ext>
            </a:extLst>
          </p:cNvPr>
          <p:cNvSpPr txBox="1"/>
          <p:nvPr/>
        </p:nvSpPr>
        <p:spPr>
          <a:xfrm>
            <a:off x="771525" y="1475449"/>
            <a:ext cx="1971675" cy="1910443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70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Min Sample Leaf</a:t>
            </a:r>
            <a:endParaRPr lang="en-US" sz="27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569E05E-B1F3-8BE5-7B30-BCFDE2405F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8421" y="336239"/>
            <a:ext cx="5291792" cy="3742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37515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E812C24285FA346AD3F70B3FFD32705" ma:contentTypeVersion="11" ma:contentTypeDescription="Create a new document." ma:contentTypeScope="" ma:versionID="3211cf3c0daa0537199ca9187a87d007">
  <xsd:schema xmlns:xsd="http://www.w3.org/2001/XMLSchema" xmlns:xs="http://www.w3.org/2001/XMLSchema" xmlns:p="http://schemas.microsoft.com/office/2006/metadata/properties" xmlns:ns2="5994b4ae-926e-4a44-b497-c986ec72bd6f" xmlns:ns3="55a2a44f-2c6c-4737-b2c4-b0c2d95e7e73" targetNamespace="http://schemas.microsoft.com/office/2006/metadata/properties" ma:root="true" ma:fieldsID="1649eb8dd7f6517b8c3736ed54285932" ns2:_="" ns3:_="">
    <xsd:import namespace="5994b4ae-926e-4a44-b497-c986ec72bd6f"/>
    <xsd:import namespace="55a2a44f-2c6c-4737-b2c4-b0c2d95e7e7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994b4ae-926e-4a44-b497-c986ec72bd6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b10c9dd7-4a39-4251-aab3-b81fdc61ee7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5a2a44f-2c6c-4737-b2c4-b0c2d95e7e73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5aa83b47-4314-4dc9-9b60-4a441a816113}" ma:internalName="TaxCatchAll" ma:showField="CatchAllData" ma:web="55a2a44f-2c6c-4737-b2c4-b0c2d95e7e7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55a2a44f-2c6c-4737-b2c4-b0c2d95e7e73" xsi:nil="true"/>
    <lcf76f155ced4ddcb4097134ff3c332f xmlns="5994b4ae-926e-4a44-b497-c986ec72bd6f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1785DEE4-8C6B-4BED-B429-F2C3781B3360}"/>
</file>

<file path=customXml/itemProps2.xml><?xml version="1.0" encoding="utf-8"?>
<ds:datastoreItem xmlns:ds="http://schemas.openxmlformats.org/officeDocument/2006/customXml" ds:itemID="{20F40528-BB8A-4A47-8F68-A3A58B019439}"/>
</file>

<file path=customXml/itemProps3.xml><?xml version="1.0" encoding="utf-8"?>
<ds:datastoreItem xmlns:ds="http://schemas.openxmlformats.org/officeDocument/2006/customXml" ds:itemID="{B49B2D6F-DB0F-435B-9509-BB21A64115C5}"/>
</file>

<file path=docMetadata/LabelInfo.xml><?xml version="1.0" encoding="utf-8"?>
<clbl:labelList xmlns:clbl="http://schemas.microsoft.com/office/2020/mipLabelMetadata">
  <clbl:label id="{634c330b-3c51-42a1-b13e-90ea1ac015c2}" enabled="1" method="Privileged" siteId="{3b07dc1f-22e7-4be1-ac66-a88bf3550222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265</TotalTime>
  <Words>573</Words>
  <Application>Microsoft Office PowerPoint</Application>
  <PresentationFormat>On-screen Show (16:9)</PresentationFormat>
  <Paragraphs>71</Paragraphs>
  <Slides>25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Arial</vt:lpstr>
      <vt:lpstr>Playfair Display Bold</vt:lpstr>
      <vt:lpstr>Space Grotesk</vt:lpstr>
      <vt:lpstr>Space Grotesk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Bhandari, Miraj</cp:lastModifiedBy>
  <cp:revision>45</cp:revision>
  <dcterms:created xsi:type="dcterms:W3CDTF">2026-06-13T08:30:12Z</dcterms:created>
  <dcterms:modified xsi:type="dcterms:W3CDTF">2026-08-07T04:44:13Z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0x0101005E812C24285FA346AD3F70B3FFD32705</vt:lpwstr>
  </property>
</Properties>
</file>