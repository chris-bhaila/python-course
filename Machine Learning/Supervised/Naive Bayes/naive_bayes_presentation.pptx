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7" r:id="rId6"/>
    <p:sldId id="263" r:id="rId7"/>
    <p:sldId id="264" r:id="rId8"/>
    <p:sldId id="268" r:id="rId9"/>
    <p:sldId id="269" r:id="rId10"/>
    <p:sldId id="270" r:id="rId11"/>
    <p:sldId id="271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2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6334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07B44-6D67-46D8-66CE-A30FB2E2B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DA9830-9361-3E88-F61E-E98E342991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744441-BDFD-500F-535A-F4ECAC18AB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36B2B-A55F-F2B3-8106-6606A392B8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7718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E0452-17B9-7DA8-5F26-9F24DE617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7858DF-EBF2-3A33-FA66-E1FA0FC6A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FAE817-A3DA-633F-4342-F9CE53EA5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F950A-087D-218B-68BB-3C138170AD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600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C6A09-97E0-927E-7D56-754CEDA2D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598560-42DC-999A-0670-3029BDD884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223BAA-6938-87E1-A19B-1FD000F6F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7264C-32F4-C360-CCD4-9055CF96CE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790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7FAFC-C5D2-3280-1951-FE2218EC8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A16AC7-7E43-39D1-3F1E-A7A5C9C98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F05BB8-01F7-8EA3-8BDE-4708B5D624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B0E4D2-0026-93C0-E9B8-7D6ACA83B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0343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643A8-95D8-E360-2A43-BC0080426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903F6E-8F79-7999-69C3-A2E7C0DE3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A34C03-8C8D-84C0-92B3-089B0C253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381C0-DD16-27FA-CB22-610CDBDFFD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193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86954" y="1493364"/>
            <a:ext cx="3570089" cy="551492"/>
          </a:xfrm>
          <a:prstGeom prst="round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86955" y="1576620"/>
            <a:ext cx="3570089" cy="551492"/>
          </a:xfrm>
          <a:prstGeom prst="rect">
            <a:avLst/>
          </a:prstGeom>
          <a:noFill/>
          <a:ln/>
        </p:spPr>
        <p:txBody>
          <a:bodyPr wrap="none" lIns="153035" tIns="42545" rIns="153035" bIns="42545" rtlCol="0" anchor="t">
            <a:sp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NAIVE BAYES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859036" y="2124540"/>
            <a:ext cx="1596628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3300" b="1" dirty="0">
                <a:solidFill>
                  <a:srgbClr val="88133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FROM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2502991" y="2064893"/>
            <a:ext cx="3612952" cy="551492"/>
          </a:xfrm>
          <a:prstGeom prst="round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484239" y="2128112"/>
            <a:ext cx="3612952" cy="551492"/>
          </a:xfrm>
          <a:prstGeom prst="rect">
            <a:avLst/>
          </a:prstGeom>
          <a:noFill/>
          <a:ln/>
        </p:spPr>
        <p:txBody>
          <a:bodyPr wrap="none" lIns="153035" tIns="42545" rIns="153035" bIns="42545" rtlCol="0" anchor="t">
            <a:sp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PROBABILITY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6125766" y="2124540"/>
            <a:ext cx="2159198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3300" b="1" dirty="0">
                <a:solidFill>
                  <a:srgbClr val="88133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THEORY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1651099" y="2640313"/>
            <a:ext cx="5841802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3300" b="1" dirty="0">
                <a:solidFill>
                  <a:srgbClr val="88133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 MACHINE LEARNING</a:t>
            </a:r>
            <a:endParaRPr lang="en-US" sz="3300" dirty="0"/>
          </a:p>
        </p:txBody>
      </p:sp>
      <p:sp>
        <p:nvSpPr>
          <p:cNvPr id="10" name="Text 7"/>
          <p:cNvSpPr/>
          <p:nvPr/>
        </p:nvSpPr>
        <p:spPr>
          <a:xfrm>
            <a:off x="485775" y="3245383"/>
            <a:ext cx="5429250" cy="607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Deep Dive into Dependent Events, Independent Events, and the Derivation of Bayes' Theorem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455789" y="4723805"/>
            <a:ext cx="2232422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Presented by Miraj Deep Bhandari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5439" y="722635"/>
            <a:ext cx="3316486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88133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CONCEPT OF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3971925" y="686916"/>
            <a:ext cx="2966442" cy="489347"/>
          </a:xfrm>
          <a:prstGeom prst="round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3971925" y="686916"/>
            <a:ext cx="2966442" cy="489347"/>
          </a:xfrm>
          <a:prstGeom prst="rect">
            <a:avLst/>
          </a:prstGeom>
          <a:noFill/>
          <a:ln/>
        </p:spPr>
        <p:txBody>
          <a:bodyPr wrap="square" lIns="170053" tIns="42545" rIns="170053" bIns="42545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INDEPENDENT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6938367" y="722635"/>
            <a:ext cx="1550194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88133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EVENTS</a:t>
            </a:r>
            <a:endParaRPr lang="en-US" sz="2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1637035"/>
            <a:ext cx="535781" cy="4286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2938" y="2261527"/>
            <a:ext cx="378618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4530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What is Independence?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42938" y="2658005"/>
            <a:ext cx="70187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Events are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1344811" y="2613357"/>
            <a:ext cx="1284089" cy="300038"/>
          </a:xfrm>
          <a:prstGeom prst="round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1344811" y="2613357"/>
            <a:ext cx="1284089" cy="300038"/>
          </a:xfrm>
          <a:prstGeom prst="rect">
            <a:avLst/>
          </a:prstGeom>
          <a:noFill/>
          <a:ln/>
        </p:spPr>
        <p:txBody>
          <a:bodyPr wrap="none" lIns="170053" tIns="42545" rIns="170053" bIns="42545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Independent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2628900" y="2658005"/>
            <a:ext cx="155733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if the occurrence of one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42938" y="2931254"/>
            <a:ext cx="3659386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does not change the probability of the other. They exist in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42938" y="3159854"/>
            <a:ext cx="1889522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separate contextual vacuums.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42938" y="3513469"/>
            <a:ext cx="3786188" cy="471488"/>
          </a:xfrm>
          <a:prstGeom prst="rect">
            <a:avLst/>
          </a:prstGeom>
          <a:solidFill>
            <a:srgbClr val="FFFFFF"/>
          </a:solidFill>
          <a:ln w="27432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42938" y="3513469"/>
            <a:ext cx="3786188" cy="47148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F123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P(A ∩ B) = P(A) × P(B)</a:t>
            </a:r>
            <a:endParaRPr lang="en-US" sz="14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1637035"/>
            <a:ext cx="535781" cy="4286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14875" y="2297246"/>
            <a:ext cx="39826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4530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113139" y="2261527"/>
            <a:ext cx="1001911" cy="280392"/>
          </a:xfrm>
          <a:prstGeom prst="round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5113139" y="2261527"/>
            <a:ext cx="1001911" cy="280392"/>
          </a:xfrm>
          <a:prstGeom prst="rect">
            <a:avLst/>
          </a:prstGeom>
          <a:noFill/>
          <a:ln/>
        </p:spPr>
        <p:txBody>
          <a:bodyPr wrap="none" lIns="170053" tIns="42545" rIns="170053" bIns="42545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Die Roll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15050" y="2297246"/>
            <a:ext cx="851892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4530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Example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714875" y="2684794"/>
            <a:ext cx="3786188" cy="603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Rolling a </a:t>
            </a:r>
            <a:r>
              <a:rPr lang="en-US" sz="1050" b="1" dirty="0">
                <a:solidFill>
                  <a:srgbClr val="7030A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r>
              <a:rPr lang="en-US" sz="10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on your first try</a:t>
            </a:r>
            <a:r>
              <a:rPr lang="en-US" sz="1050" b="1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</a:t>
            </a:r>
            <a:r>
              <a:rPr lang="en-US" sz="1050" b="1" dirty="0">
                <a:solidFill>
                  <a:srgbClr val="00B05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(P=1/6) </a:t>
            </a:r>
            <a:r>
              <a:rPr lang="en-US" sz="10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has no impact on whether you roll a </a:t>
            </a:r>
            <a:r>
              <a:rPr lang="en-US" sz="1050" b="1" dirty="0">
                <a:solidFill>
                  <a:srgbClr val="7030A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r>
              <a:rPr lang="en-US" sz="10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on your second try. The outcome of the first roll is "forgotten" by the universe before the second roll occurs.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4714875" y="3742069"/>
            <a:ext cx="3786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This simplicity allows for direct multiplication of probabilities without contextual adjustments.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6259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7592" y="744066"/>
            <a:ext cx="1293019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88133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WHEN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2030611" y="708347"/>
            <a:ext cx="2025253" cy="489347"/>
          </a:xfrm>
          <a:prstGeom prst="round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030611" y="708347"/>
            <a:ext cx="2025253" cy="489347"/>
          </a:xfrm>
          <a:prstGeom prst="rect">
            <a:avLst/>
          </a:prstGeom>
          <a:noFill/>
          <a:ln/>
        </p:spPr>
        <p:txBody>
          <a:bodyPr wrap="square" lIns="170053" tIns="42545" rIns="170053" bIns="42545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CONTEXT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4055864" y="744066"/>
            <a:ext cx="4350544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88133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MATTERS: DEPENDENT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3848695" y="1197694"/>
            <a:ext cx="1446609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88133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EVENTS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1102816" y="2121024"/>
            <a:ext cx="120372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Two events are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306538" y="2072804"/>
            <a:ext cx="1325166" cy="345746"/>
          </a:xfrm>
          <a:prstGeom prst="round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306538" y="2072804"/>
            <a:ext cx="1325166" cy="345746"/>
          </a:xfrm>
          <a:prstGeom prst="rect">
            <a:avLst/>
          </a:prstGeom>
          <a:noFill/>
          <a:ln/>
        </p:spPr>
        <p:txBody>
          <a:bodyPr wrap="none" lIns="170053" tIns="42545" rIns="170053" bIns="42545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Dependent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90336" y="2113662"/>
            <a:ext cx="3882473" cy="4719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lang="en-US" sz="12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If The result of the first event changes the probability </a:t>
            </a:r>
          </a:p>
          <a:p>
            <a:pPr algn="ctr">
              <a:lnSpc>
                <a:spcPct val="128000"/>
              </a:lnSpc>
            </a:pPr>
            <a:r>
              <a:rPr lang="en-US" sz="12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of the second event.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1000125" y="2864309"/>
            <a:ext cx="7143750" cy="2008733"/>
          </a:xfrm>
          <a:prstGeom prst="rect">
            <a:avLst/>
          </a:prstGeom>
          <a:solidFill>
            <a:srgbClr val="FFFFFF"/>
          </a:solidFill>
          <a:ln w="27432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1291819" y="3901715"/>
            <a:ext cx="2857500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F123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Step 1: Initial State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291819" y="4197958"/>
            <a:ext cx="2857500" cy="13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 Red, 2 Green Marbles</a:t>
            </a:r>
            <a:endParaRPr lang="en-US" sz="850" b="1" dirty="0"/>
          </a:p>
        </p:txBody>
      </p:sp>
      <p:sp>
        <p:nvSpPr>
          <p:cNvPr id="17" name="Text 13"/>
          <p:cNvSpPr/>
          <p:nvPr/>
        </p:nvSpPr>
        <p:spPr>
          <a:xfrm>
            <a:off x="1291819" y="4464062"/>
            <a:ext cx="28575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69A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P(Red) = 3/5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6956" y="3708834"/>
            <a:ext cx="250031" cy="2857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994625" y="3901715"/>
            <a:ext cx="2857500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F123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Step 2: After Drawing Red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4994625" y="4197958"/>
            <a:ext cx="2857500" cy="13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 Red, 2 Green Marbles Left</a:t>
            </a:r>
            <a:endParaRPr lang="en-US" sz="850" b="1" dirty="0"/>
          </a:p>
        </p:txBody>
      </p:sp>
      <p:sp>
        <p:nvSpPr>
          <p:cNvPr id="22" name="Text 16"/>
          <p:cNvSpPr/>
          <p:nvPr/>
        </p:nvSpPr>
        <p:spPr>
          <a:xfrm>
            <a:off x="4994625" y="4464062"/>
            <a:ext cx="28575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69A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P(Green) = 2/4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194792" y="5035562"/>
            <a:ext cx="299680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denominator changes because the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191595" y="4987342"/>
            <a:ext cx="1023342" cy="345746"/>
          </a:xfrm>
          <a:prstGeom prst="round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4191595" y="4987342"/>
            <a:ext cx="1023342" cy="345746"/>
          </a:xfrm>
          <a:prstGeom prst="rect">
            <a:avLst/>
          </a:prstGeom>
          <a:noFill/>
          <a:ln/>
        </p:spPr>
        <p:txBody>
          <a:bodyPr wrap="none" lIns="170053" tIns="42545" rIns="170053" bIns="42545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Context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214938" y="5035562"/>
            <a:ext cx="273427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has been altered by the first action.</a:t>
            </a:r>
            <a:endParaRPr lang="en-US" sz="12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70D0C99-35E3-2568-9B78-49531FEBF2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9810" y="2977681"/>
            <a:ext cx="1026765" cy="89099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AC88904-D1E5-3C65-FFD0-BC0084FE5C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4699" y="3100271"/>
            <a:ext cx="1560601" cy="7240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32356" y="701204"/>
            <a:ext cx="2898577" cy="489347"/>
          </a:xfrm>
          <a:prstGeom prst="round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30141" y="728615"/>
            <a:ext cx="3000792" cy="839974"/>
          </a:xfrm>
          <a:prstGeom prst="rect">
            <a:avLst/>
          </a:prstGeom>
          <a:noFill/>
          <a:ln/>
        </p:spPr>
        <p:txBody>
          <a:bodyPr wrap="square" lIns="170053" tIns="42545" rIns="170053" bIns="42545" rtlCol="0" anchor="t">
            <a:spAutoFit/>
          </a:bodyPr>
          <a:lstStyle/>
          <a:p>
            <a:pPr algn="ctr"/>
            <a:r>
              <a:rPr lang="en-US" sz="2450" b="1" dirty="0">
                <a:solidFill>
                  <a:schemeClr val="bg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PROBABILITY</a:t>
            </a:r>
            <a:endParaRPr lang="en-US" sz="24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3809029" y="717450"/>
            <a:ext cx="4739352" cy="37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881337"/>
                </a:solidFill>
                <a:latin typeface="Montserrat Black" pitchFamily="34" charset="0"/>
              </a:rPr>
              <a:t>Of getting A and B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6532033" y="1822772"/>
            <a:ext cx="65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1876" y="2064057"/>
            <a:ext cx="4934912" cy="1626944"/>
          </a:xfrm>
          <a:prstGeom prst="rect">
            <a:avLst/>
          </a:prstGeom>
          <a:solidFill>
            <a:srgbClr val="FFFFFF"/>
          </a:solidFill>
          <a:ln w="4572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638416" y="2333551"/>
            <a:ext cx="1980605" cy="477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3100" dirty="0"/>
          </a:p>
        </p:txBody>
      </p:sp>
      <p:sp>
        <p:nvSpPr>
          <p:cNvPr id="14" name="Text 11"/>
          <p:cNvSpPr/>
          <p:nvPr/>
        </p:nvSpPr>
        <p:spPr>
          <a:xfrm>
            <a:off x="4619020" y="2333551"/>
            <a:ext cx="1886536" cy="477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3100" dirty="0"/>
          </a:p>
        </p:txBody>
      </p:sp>
      <p:sp>
        <p:nvSpPr>
          <p:cNvPr id="15" name="Text 12"/>
          <p:cNvSpPr/>
          <p:nvPr/>
        </p:nvSpPr>
        <p:spPr>
          <a:xfrm>
            <a:off x="2638416" y="2812182"/>
            <a:ext cx="3867141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F265EA-7FAE-470E-099C-8A9FCF41D202}"/>
              </a:ext>
            </a:extLst>
          </p:cNvPr>
          <p:cNvSpPr txBox="1"/>
          <p:nvPr/>
        </p:nvSpPr>
        <p:spPr>
          <a:xfrm>
            <a:off x="730141" y="1484583"/>
            <a:ext cx="4621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Paila</a:t>
            </a:r>
            <a:r>
              <a:rPr lang="en-US" b="1" dirty="0"/>
              <a:t> A </a:t>
            </a:r>
            <a:r>
              <a:rPr lang="en-US" b="1" dirty="0" err="1"/>
              <a:t>Aayera</a:t>
            </a:r>
            <a:r>
              <a:rPr lang="en-US" b="1" dirty="0"/>
              <a:t> B </a:t>
            </a:r>
            <a:r>
              <a:rPr lang="en-US" b="1" dirty="0" err="1"/>
              <a:t>Aauni</a:t>
            </a:r>
            <a:r>
              <a:rPr lang="en-US" b="1" dirty="0"/>
              <a:t> Probability is given by: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7E79C4-D00F-0F77-17C9-A60F14C7F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1195" y="2120218"/>
            <a:ext cx="3081825" cy="14896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50E3E-5987-80BA-194B-E25B2FC6D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1E95D43-5B1E-6A65-7A0D-83B7F4E47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E2073512-8373-C21F-7904-A830510A119D}"/>
              </a:ext>
            </a:extLst>
          </p:cNvPr>
          <p:cNvSpPr/>
          <p:nvPr/>
        </p:nvSpPr>
        <p:spPr>
          <a:xfrm>
            <a:off x="832356" y="701204"/>
            <a:ext cx="2898577" cy="489347"/>
          </a:xfrm>
          <a:prstGeom prst="round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3E621CB-A7E4-3505-73FE-F7BA9466043F}"/>
              </a:ext>
            </a:extLst>
          </p:cNvPr>
          <p:cNvSpPr/>
          <p:nvPr/>
        </p:nvSpPr>
        <p:spPr>
          <a:xfrm>
            <a:off x="730141" y="728615"/>
            <a:ext cx="3000792" cy="839974"/>
          </a:xfrm>
          <a:prstGeom prst="rect">
            <a:avLst/>
          </a:prstGeom>
          <a:noFill/>
          <a:ln/>
        </p:spPr>
        <p:txBody>
          <a:bodyPr wrap="square" lIns="170053" tIns="42545" rIns="170053" bIns="42545" rtlCol="0" anchor="t">
            <a:spAutoFit/>
          </a:bodyPr>
          <a:lstStyle/>
          <a:p>
            <a:pPr algn="ctr"/>
            <a:r>
              <a:rPr lang="en-US" sz="2450" b="1" dirty="0">
                <a:solidFill>
                  <a:schemeClr val="bg1"/>
                </a:solidFill>
                <a:latin typeface="Montserrat Black" pitchFamily="34" charset="0"/>
              </a:rPr>
              <a:t>Naïve Bayes</a:t>
            </a:r>
            <a:endParaRPr lang="en-US" sz="24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24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460C694-88EB-8657-5514-F6B520EE198C}"/>
              </a:ext>
            </a:extLst>
          </p:cNvPr>
          <p:cNvSpPr/>
          <p:nvPr/>
        </p:nvSpPr>
        <p:spPr>
          <a:xfrm>
            <a:off x="3785652" y="760348"/>
            <a:ext cx="4739352" cy="37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881337"/>
                </a:solidFill>
                <a:latin typeface="Montserrat Black" pitchFamily="34" charset="0"/>
              </a:rPr>
              <a:t>Derivation :</a:t>
            </a:r>
            <a:endParaRPr lang="en-US" sz="24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0886F61-94F8-0C76-1768-8B3EECF14E2B}"/>
              </a:ext>
            </a:extLst>
          </p:cNvPr>
          <p:cNvSpPr/>
          <p:nvPr/>
        </p:nvSpPr>
        <p:spPr>
          <a:xfrm>
            <a:off x="6532033" y="1822772"/>
            <a:ext cx="65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en-US" sz="14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271706CB-89C5-12F7-5BA2-EA8C41BFFD4E}"/>
              </a:ext>
            </a:extLst>
          </p:cNvPr>
          <p:cNvSpPr/>
          <p:nvPr/>
        </p:nvSpPr>
        <p:spPr>
          <a:xfrm>
            <a:off x="651510" y="1402080"/>
            <a:ext cx="6850380" cy="3394709"/>
          </a:xfrm>
          <a:prstGeom prst="rect">
            <a:avLst/>
          </a:prstGeom>
          <a:solidFill>
            <a:srgbClr val="FFFFFF"/>
          </a:solidFill>
          <a:ln w="4572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E814BDB-D6C3-C18D-A5F0-6893445B72B4}"/>
              </a:ext>
            </a:extLst>
          </p:cNvPr>
          <p:cNvSpPr/>
          <p:nvPr/>
        </p:nvSpPr>
        <p:spPr>
          <a:xfrm>
            <a:off x="2638416" y="2333551"/>
            <a:ext cx="1980605" cy="477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31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E807258-FA52-925C-B3D8-5C7177E8ED98}"/>
              </a:ext>
            </a:extLst>
          </p:cNvPr>
          <p:cNvSpPr/>
          <p:nvPr/>
        </p:nvSpPr>
        <p:spPr>
          <a:xfrm>
            <a:off x="4619020" y="2333551"/>
            <a:ext cx="1886536" cy="477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31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05FDDACA-DCDC-5579-575C-C6454ABF9A82}"/>
              </a:ext>
            </a:extLst>
          </p:cNvPr>
          <p:cNvSpPr/>
          <p:nvPr/>
        </p:nvSpPr>
        <p:spPr>
          <a:xfrm>
            <a:off x="2638416" y="2812182"/>
            <a:ext cx="3867141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8A1B5A-A326-FAEB-956C-EE07BF004D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9388" y="1568589"/>
            <a:ext cx="3951735" cy="3123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682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482" y="751210"/>
            <a:ext cx="366653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88133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TRANSITIONING TO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380012" y="715491"/>
            <a:ext cx="4050506" cy="489347"/>
          </a:xfrm>
          <a:prstGeom prst="round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380012" y="715491"/>
            <a:ext cx="4050506" cy="489347"/>
          </a:xfrm>
          <a:prstGeom prst="rect">
            <a:avLst/>
          </a:prstGeom>
          <a:noFill/>
          <a:ln/>
        </p:spPr>
        <p:txBody>
          <a:bodyPr wrap="square" lIns="170053" tIns="42545" rIns="170053" bIns="42545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MACHINE LEARNING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1771650" y="1490588"/>
            <a:ext cx="2371725" cy="889397"/>
          </a:xfrm>
          <a:prstGeom prst="rect">
            <a:avLst/>
          </a:prstGeom>
          <a:solidFill>
            <a:srgbClr val="FFFFFF"/>
          </a:solidFill>
          <a:ln w="27432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261890" y="1612032"/>
            <a:ext cx="994767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8133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Event B →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56657" y="1576313"/>
            <a:ext cx="396478" cy="280392"/>
          </a:xfrm>
          <a:prstGeom prst="round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256657" y="1576313"/>
            <a:ext cx="396478" cy="280392"/>
          </a:xfrm>
          <a:prstGeom prst="rect">
            <a:avLst/>
          </a:prstGeom>
          <a:noFill/>
          <a:ln/>
        </p:spPr>
        <p:txBody>
          <a:bodyPr wrap="none" lIns="170053" tIns="42545" rIns="170053" bIns="42545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885950" y="1971005"/>
            <a:ext cx="2143125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Target Class we want to predict.</a:t>
            </a:r>
            <a:endParaRPr lang="en-US" sz="8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0550" y="1804020"/>
            <a:ext cx="285750" cy="28575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972050" y="1490588"/>
            <a:ext cx="2371725" cy="889397"/>
          </a:xfrm>
          <a:prstGeom prst="rect">
            <a:avLst/>
          </a:prstGeom>
          <a:solidFill>
            <a:srgbClr val="FFFFFF"/>
          </a:solidFill>
          <a:ln w="27432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449788" y="1612032"/>
            <a:ext cx="100012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8133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Event A →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49913" y="1576313"/>
            <a:ext cx="416123" cy="280392"/>
          </a:xfrm>
          <a:prstGeom prst="round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449913" y="1576313"/>
            <a:ext cx="416123" cy="280392"/>
          </a:xfrm>
          <a:prstGeom prst="rect">
            <a:avLst/>
          </a:prstGeom>
          <a:noFill/>
          <a:ln/>
        </p:spPr>
        <p:txBody>
          <a:bodyPr wrap="none" lIns="170053" tIns="42545" rIns="170053" bIns="42545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X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86350" y="1971005"/>
            <a:ext cx="2143125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set of Input Features (Evidence).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2447627" y="2522860"/>
            <a:ext cx="4248745" cy="1067991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2619077" y="2818461"/>
            <a:ext cx="1526977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P(y|X) =</a:t>
            </a:r>
            <a:endParaRPr lang="en-US" sz="2450" dirty="0"/>
          </a:p>
        </p:txBody>
      </p:sp>
      <p:sp>
        <p:nvSpPr>
          <p:cNvPr id="19" name="Text 15"/>
          <p:cNvSpPr/>
          <p:nvPr/>
        </p:nvSpPr>
        <p:spPr>
          <a:xfrm>
            <a:off x="4146054" y="2694310"/>
            <a:ext cx="2378869" cy="446484"/>
          </a:xfrm>
          <a:prstGeom prst="rect">
            <a:avLst/>
          </a:prstGeom>
          <a:noFill/>
          <a:ln/>
        </p:spPr>
        <p:txBody>
          <a:bodyPr wrap="square" lIns="68072" tIns="0" rIns="68072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P(y) × P(X|y)</a:t>
            </a:r>
            <a:endParaRPr lang="en-US" sz="2450" dirty="0"/>
          </a:p>
        </p:txBody>
      </p:sp>
      <p:sp>
        <p:nvSpPr>
          <p:cNvPr id="20" name="Text 16"/>
          <p:cNvSpPr/>
          <p:nvPr/>
        </p:nvSpPr>
        <p:spPr>
          <a:xfrm>
            <a:off x="4146054" y="3140794"/>
            <a:ext cx="2378869" cy="278606"/>
          </a:xfrm>
          <a:prstGeom prst="rect">
            <a:avLst/>
          </a:prstGeom>
          <a:noFill/>
          <a:ln/>
        </p:spPr>
        <p:txBody>
          <a:bodyPr wrap="square" lIns="68072" tIns="0" rIns="68072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P(X)</a:t>
            </a:r>
            <a:endParaRPr lang="en-US" sz="16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BCAE310-C84A-1CA8-E203-56A6899B4CED}"/>
              </a:ext>
            </a:extLst>
          </p:cNvPr>
          <p:cNvCxnSpPr>
            <a:cxnSpLocks/>
          </p:cNvCxnSpPr>
          <p:nvPr/>
        </p:nvCxnSpPr>
        <p:spPr>
          <a:xfrm>
            <a:off x="4222968" y="3098884"/>
            <a:ext cx="230195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720" y="751210"/>
            <a:ext cx="834033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88133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1453753" y="715491"/>
            <a:ext cx="1446609" cy="489347"/>
          </a:xfrm>
          <a:prstGeom prst="round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453753" y="715491"/>
            <a:ext cx="1446609" cy="489347"/>
          </a:xfrm>
          <a:prstGeom prst="rect">
            <a:avLst/>
          </a:prstGeom>
          <a:noFill/>
          <a:ln/>
        </p:spPr>
        <p:txBody>
          <a:bodyPr wrap="square" lIns="170053" tIns="42545" rIns="170053" bIns="42545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NAIVE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2900363" y="751210"/>
            <a:ext cx="5623917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88133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INDEPENDENCE ASSUMPTION</a:t>
            </a:r>
            <a:endParaRPr lang="en-US" sz="2450" dirty="0"/>
          </a:p>
        </p:txBody>
      </p:sp>
      <p:sp>
        <p:nvSpPr>
          <p:cNvPr id="7" name="Shape 4"/>
          <p:cNvSpPr/>
          <p:nvPr/>
        </p:nvSpPr>
        <p:spPr>
          <a:xfrm>
            <a:off x="642938" y="1419151"/>
            <a:ext cx="3843338" cy="2368600"/>
          </a:xfrm>
          <a:prstGeom prst="rect">
            <a:avLst/>
          </a:prstGeom>
          <a:solidFill>
            <a:srgbClr val="FFFFFF"/>
          </a:solidFill>
          <a:ln w="27432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85813" y="1704315"/>
            <a:ext cx="355758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8133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WHY "NAIVE"?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5813" y="2002566"/>
            <a:ext cx="96976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Assumption: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755577" y="2002566"/>
            <a:ext cx="180379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It assumes that every feature is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85813" y="2179011"/>
            <a:ext cx="1189434" cy="251454"/>
          </a:xfrm>
          <a:prstGeom prst="round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85813" y="2179011"/>
            <a:ext cx="1189434" cy="251454"/>
          </a:xfrm>
          <a:prstGeom prst="rect">
            <a:avLst/>
          </a:prstGeom>
          <a:noFill/>
          <a:ln/>
        </p:spPr>
        <p:txBody>
          <a:bodyPr wrap="none" lIns="170053" tIns="42545" rIns="170053" bIns="42545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Independent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975247" y="2211158"/>
            <a:ext cx="216277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of every other feature, given the class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85813" y="2434037"/>
            <a:ext cx="30896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label.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85813" y="2696208"/>
            <a:ext cx="35575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Reality:</a:t>
            </a:r>
            <a:r>
              <a:rPr lang="en-US" sz="9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In real-world data, features are often correlated (e.g., "Height" and "Weight").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85813" y="3141966"/>
            <a:ext cx="35575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Choice:</a:t>
            </a:r>
            <a:r>
              <a:rPr lang="en-US" sz="9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We intentionally ignore these dependencies to simplify the math.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852642" y="3242704"/>
            <a:ext cx="3214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EC4DA-4AD5-D4C1-98DC-B5C64D535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1687877-23BC-9B12-693F-E943B6184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CE1A3FC-2BBF-B346-915C-F6148FCFC118}"/>
              </a:ext>
            </a:extLst>
          </p:cNvPr>
          <p:cNvSpPr/>
          <p:nvPr/>
        </p:nvSpPr>
        <p:spPr>
          <a:xfrm>
            <a:off x="300990" y="418636"/>
            <a:ext cx="7136569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881337"/>
                </a:solidFill>
                <a:latin typeface="Montserrat Black" pitchFamily="34" charset="0"/>
              </a:rPr>
              <a:t>How We Actually Make Predictions on the Dataset </a:t>
            </a:r>
            <a:endParaRPr lang="en-US" sz="2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9838880F-1B86-98E4-9215-36AE2FF0734C}"/>
              </a:ext>
            </a:extLst>
          </p:cNvPr>
          <p:cNvSpPr/>
          <p:nvPr/>
        </p:nvSpPr>
        <p:spPr>
          <a:xfrm>
            <a:off x="300990" y="963930"/>
            <a:ext cx="8610600" cy="3657600"/>
          </a:xfrm>
          <a:prstGeom prst="rect">
            <a:avLst/>
          </a:prstGeom>
          <a:solidFill>
            <a:srgbClr val="FFFFFF"/>
          </a:solidFill>
          <a:ln w="27432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51A0C01-48F3-FF68-4BA0-AEF626FA8B07}"/>
              </a:ext>
            </a:extLst>
          </p:cNvPr>
          <p:cNvSpPr/>
          <p:nvPr/>
        </p:nvSpPr>
        <p:spPr>
          <a:xfrm>
            <a:off x="785813" y="2179011"/>
            <a:ext cx="1189434" cy="251454"/>
          </a:xfrm>
          <a:prstGeom prst="rect">
            <a:avLst/>
          </a:prstGeom>
          <a:noFill/>
          <a:ln/>
        </p:spPr>
        <p:txBody>
          <a:bodyPr wrap="none" lIns="170053" tIns="42545" rIns="170053" bIns="42545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Independent</a:t>
            </a:r>
            <a:endParaRPr lang="en-US" sz="9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275CFF47-88A9-09F0-3DF0-4B8F84605D87}"/>
              </a:ext>
            </a:extLst>
          </p:cNvPr>
          <p:cNvSpPr/>
          <p:nvPr/>
        </p:nvSpPr>
        <p:spPr>
          <a:xfrm>
            <a:off x="6852642" y="3242704"/>
            <a:ext cx="3214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</a:t>
            </a:r>
            <a:endParaRPr lang="en-US" sz="9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A0211EF-C515-9493-69AE-8D14CF0359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926" y="1184796"/>
            <a:ext cx="7502148" cy="3279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413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7A872-0367-7580-6595-834516735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9314571-A8D5-47ED-F811-B63615514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FE65461-A811-A846-F02D-001BA8449D1E}"/>
              </a:ext>
            </a:extLst>
          </p:cNvPr>
          <p:cNvSpPr/>
          <p:nvPr/>
        </p:nvSpPr>
        <p:spPr>
          <a:xfrm>
            <a:off x="403860" y="468166"/>
            <a:ext cx="166071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881337"/>
                </a:solidFill>
                <a:latin typeface="Montserrat Black" pitchFamily="34" charset="0"/>
              </a:rPr>
              <a:t>Continue … </a:t>
            </a:r>
            <a:endParaRPr lang="en-US" sz="2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C482500-2C34-0433-9BCB-6837CA98E562}"/>
              </a:ext>
            </a:extLst>
          </p:cNvPr>
          <p:cNvSpPr/>
          <p:nvPr/>
        </p:nvSpPr>
        <p:spPr>
          <a:xfrm>
            <a:off x="300990" y="963930"/>
            <a:ext cx="8610600" cy="3657600"/>
          </a:xfrm>
          <a:prstGeom prst="rect">
            <a:avLst/>
          </a:prstGeom>
          <a:solidFill>
            <a:srgbClr val="FFFFFF"/>
          </a:solidFill>
          <a:ln w="27432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2835FD3-5AA6-0DF1-7555-D378D81F6963}"/>
              </a:ext>
            </a:extLst>
          </p:cNvPr>
          <p:cNvSpPr/>
          <p:nvPr/>
        </p:nvSpPr>
        <p:spPr>
          <a:xfrm>
            <a:off x="785813" y="2179011"/>
            <a:ext cx="1189434" cy="251454"/>
          </a:xfrm>
          <a:prstGeom prst="rect">
            <a:avLst/>
          </a:prstGeom>
          <a:noFill/>
          <a:ln/>
        </p:spPr>
        <p:txBody>
          <a:bodyPr wrap="none" lIns="170053" tIns="42545" rIns="170053" bIns="42545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Independent</a:t>
            </a:r>
            <a:endParaRPr lang="en-US" sz="9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ECB75756-BD90-1ADB-B4A7-30473C3685B2}"/>
              </a:ext>
            </a:extLst>
          </p:cNvPr>
          <p:cNvSpPr/>
          <p:nvPr/>
        </p:nvSpPr>
        <p:spPr>
          <a:xfrm>
            <a:off x="6852642" y="3242704"/>
            <a:ext cx="3214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</a:t>
            </a:r>
            <a:endParaRPr lang="en-US" sz="9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DCBFF8-8044-80BD-2001-4FD0D217E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0" y="1438919"/>
            <a:ext cx="8210550" cy="2643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924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AD7CF-0ADF-FEC8-9424-B54D289CE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9431E2D-B57B-A865-5E70-3BEA7BCAC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0936992-0B28-938D-9DDD-930F2F12F40E}"/>
              </a:ext>
            </a:extLst>
          </p:cNvPr>
          <p:cNvSpPr/>
          <p:nvPr/>
        </p:nvSpPr>
        <p:spPr>
          <a:xfrm>
            <a:off x="403860" y="468166"/>
            <a:ext cx="166071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881337"/>
                </a:solidFill>
                <a:latin typeface="Montserrat Black" pitchFamily="34" charset="0"/>
              </a:rPr>
              <a:t>Continue … </a:t>
            </a:r>
            <a:endParaRPr lang="en-US" sz="20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05B73005-3966-2C6B-848C-BAE439AD41EE}"/>
              </a:ext>
            </a:extLst>
          </p:cNvPr>
          <p:cNvSpPr/>
          <p:nvPr/>
        </p:nvSpPr>
        <p:spPr>
          <a:xfrm>
            <a:off x="6852642" y="3242704"/>
            <a:ext cx="3214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</a:t>
            </a:r>
            <a:endParaRPr lang="en-US" sz="9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2ABFD2-AF9E-A748-625C-2F8F3F8544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268" y="903464"/>
            <a:ext cx="8691239" cy="390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685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5F7BA-2490-E06E-7FA1-071630F0E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320721A-590A-FA0F-4866-45A97C8A6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0271862-294C-FF69-8B61-7A47E6039047}"/>
              </a:ext>
            </a:extLst>
          </p:cNvPr>
          <p:cNvSpPr/>
          <p:nvPr/>
        </p:nvSpPr>
        <p:spPr>
          <a:xfrm>
            <a:off x="403860" y="468166"/>
            <a:ext cx="166071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881337"/>
                </a:solidFill>
                <a:latin typeface="Montserrat Black" pitchFamily="34" charset="0"/>
              </a:rPr>
              <a:t>Continue … </a:t>
            </a:r>
            <a:endParaRPr lang="en-US" sz="20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64951794-C504-2E39-FBBC-4FE0483A0CC4}"/>
              </a:ext>
            </a:extLst>
          </p:cNvPr>
          <p:cNvSpPr/>
          <p:nvPr/>
        </p:nvSpPr>
        <p:spPr>
          <a:xfrm>
            <a:off x="6852642" y="3242704"/>
            <a:ext cx="3214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</a:t>
            </a:r>
            <a:endParaRPr lang="en-US" sz="9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905CDF-2CD6-50DB-8762-DCE86F1DF3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685" y="775943"/>
            <a:ext cx="7026630" cy="422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645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94842" y="966806"/>
            <a:ext cx="279320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88133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SUMMARY &amp;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4423767" y="952519"/>
            <a:ext cx="3089672" cy="516136"/>
          </a:xfrm>
          <a:prstGeom prst="round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423767" y="952519"/>
            <a:ext cx="3089672" cy="516136"/>
          </a:xfrm>
          <a:prstGeom prst="rect">
            <a:avLst/>
          </a:prstGeom>
          <a:noFill/>
          <a:ln/>
        </p:spPr>
        <p:txBody>
          <a:bodyPr wrap="square" lIns="136017" tIns="17018" rIns="136017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CONCLUSION</a:t>
            </a:r>
            <a:endParaRPr lang="en-US" sz="2850" dirty="0"/>
          </a:p>
        </p:txBody>
      </p:sp>
      <p:sp>
        <p:nvSpPr>
          <p:cNvPr id="6" name="Shape 3"/>
          <p:cNvSpPr/>
          <p:nvPr/>
        </p:nvSpPr>
        <p:spPr>
          <a:xfrm>
            <a:off x="1507331" y="1682967"/>
            <a:ext cx="1366242" cy="308604"/>
          </a:xfrm>
          <a:prstGeom prst="round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507331" y="1682967"/>
            <a:ext cx="1366242" cy="308604"/>
          </a:xfrm>
          <a:prstGeom prst="rect">
            <a:avLst/>
          </a:prstGeom>
          <a:noFill/>
          <a:ln/>
        </p:spPr>
        <p:txBody>
          <a:bodyPr wrap="none" lIns="136017" tIns="17018" rIns="136017" bIns="17018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909292" y="1691897"/>
            <a:ext cx="4763095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50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: Handles high-dimensional data with ease, making it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370957" y="1996929"/>
            <a:ext cx="2402086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50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ideal for text classification.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559123" y="2357326"/>
            <a:ext cx="1637705" cy="308604"/>
          </a:xfrm>
          <a:prstGeom prst="round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559123" y="2357326"/>
            <a:ext cx="1637705" cy="308604"/>
          </a:xfrm>
          <a:prstGeom prst="rect">
            <a:avLst/>
          </a:prstGeom>
          <a:noFill/>
          <a:ln/>
        </p:spPr>
        <p:txBody>
          <a:bodyPr wrap="none" lIns="136017" tIns="17018" rIns="136017" bIns="17018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232547" y="2366256"/>
            <a:ext cx="4388048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50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: Extremely fast training and prediction times for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548658" y="2671288"/>
            <a:ext cx="2046684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50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real-time applications.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401961" y="3031685"/>
            <a:ext cx="1494830" cy="308604"/>
          </a:xfrm>
          <a:prstGeom prst="round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401961" y="3031685"/>
            <a:ext cx="1494830" cy="308604"/>
          </a:xfrm>
          <a:prstGeom prst="rect">
            <a:avLst/>
          </a:prstGeom>
          <a:noFill/>
          <a:ln/>
        </p:spPr>
        <p:txBody>
          <a:bodyPr wrap="none" lIns="136017" tIns="17018" rIns="136017" bIns="17018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Robustness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932509" y="3040614"/>
            <a:ext cx="4845248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50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: Performs remarkably well even with limited data and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659386" y="3345647"/>
            <a:ext cx="1825228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50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"naive" assumptions.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1757363" y="3706044"/>
            <a:ext cx="1160859" cy="308604"/>
          </a:xfrm>
          <a:prstGeom prst="round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757363" y="3706044"/>
            <a:ext cx="1160859" cy="308604"/>
          </a:xfrm>
          <a:prstGeom prst="rect">
            <a:avLst/>
          </a:prstGeom>
          <a:noFill/>
          <a:ln/>
        </p:spPr>
        <p:txBody>
          <a:bodyPr wrap="none" lIns="136017" tIns="17018" rIns="136017" bIns="17018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Baseline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953941" y="3714973"/>
            <a:ext cx="4468416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50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: Serves as the perfect baseline model for complex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3706713" y="4020006"/>
            <a:ext cx="1730573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50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classification tasks.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812C24285FA346AD3F70B3FFD32705" ma:contentTypeVersion="11" ma:contentTypeDescription="Create a new document." ma:contentTypeScope="" ma:versionID="3211cf3c0daa0537199ca9187a87d007">
  <xsd:schema xmlns:xsd="http://www.w3.org/2001/XMLSchema" xmlns:xs="http://www.w3.org/2001/XMLSchema" xmlns:p="http://schemas.microsoft.com/office/2006/metadata/properties" xmlns:ns2="5994b4ae-926e-4a44-b497-c986ec72bd6f" xmlns:ns3="55a2a44f-2c6c-4737-b2c4-b0c2d95e7e73" targetNamespace="http://schemas.microsoft.com/office/2006/metadata/properties" ma:root="true" ma:fieldsID="1649eb8dd7f6517b8c3736ed54285932" ns2:_="" ns3:_="">
    <xsd:import namespace="5994b4ae-926e-4a44-b497-c986ec72bd6f"/>
    <xsd:import namespace="55a2a44f-2c6c-4737-b2c4-b0c2d95e7e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94b4ae-926e-4a44-b497-c986ec72bd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b10c9dd7-4a39-4251-aab3-b81fdc61ee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a2a44f-2c6c-4737-b2c4-b0c2d95e7e7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5aa83b47-4314-4dc9-9b60-4a441a816113}" ma:internalName="TaxCatchAll" ma:showField="CatchAllData" ma:web="55a2a44f-2c6c-4737-b2c4-b0c2d95e7e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5a2a44f-2c6c-4737-b2c4-b0c2d95e7e73" xsi:nil="true"/>
    <lcf76f155ced4ddcb4097134ff3c332f xmlns="5994b4ae-926e-4a44-b497-c986ec72bd6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D436411-4354-4DDD-98FF-234410EE247F}"/>
</file>

<file path=customXml/itemProps2.xml><?xml version="1.0" encoding="utf-8"?>
<ds:datastoreItem xmlns:ds="http://schemas.openxmlformats.org/officeDocument/2006/customXml" ds:itemID="{66B261AF-D573-4A31-B605-4F7BE407F0B4}"/>
</file>

<file path=customXml/itemProps3.xml><?xml version="1.0" encoding="utf-8"?>
<ds:datastoreItem xmlns:ds="http://schemas.openxmlformats.org/officeDocument/2006/customXml" ds:itemID="{718F66C8-6B3D-4BAD-A176-A0C0DCA39EBD}"/>
</file>

<file path=docMetadata/LabelInfo.xml><?xml version="1.0" encoding="utf-8"?>
<clbl:labelList xmlns:clbl="http://schemas.microsoft.com/office/2020/mipLabelMetadata">
  <clbl:label id="{634c330b-3c51-42a1-b13e-90ea1ac015c2}" enabled="1" method="Privileged" siteId="{3b07dc1f-22e7-4be1-ac66-a88bf355022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440</Words>
  <Application>Microsoft Office PowerPoint</Application>
  <PresentationFormat>On-screen Show (16:9)</PresentationFormat>
  <Paragraphs>103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Montserrat Black</vt:lpstr>
      <vt:lpstr>Playfair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Bhandari, Miraj</cp:lastModifiedBy>
  <cp:revision>29</cp:revision>
  <dcterms:created xsi:type="dcterms:W3CDTF">2026-06-20T07:27:18Z</dcterms:created>
  <dcterms:modified xsi:type="dcterms:W3CDTF">2026-06-23T07:42:46Z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0x0101005E812C24285FA346AD3F70B3FFD32705</vt:lpwstr>
  </property>
</Properties>
</file>